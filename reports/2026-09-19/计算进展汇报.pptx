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1" Type="http://schemas.openxmlformats.org/officeDocument/2006/relationships/presProps" Target="presProps.xml" /><Relationship Id="rId10" Type="http://schemas.openxmlformats.org/officeDocument/2006/relationships/notesMaster" Target="notesMasters/notesMaster1.xml" /><Relationship Id="rId13" Type="http://schemas.openxmlformats.org/officeDocument/2006/relationships/viewProps" Target="viewProps.xml" /><Relationship Id="rId12" Type="http://schemas.openxmlformats.org/officeDocument/2006/relationships/tableStyles" Target="tableStyle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2" Type="http://schemas.openxmlformats.org/officeDocument/2006/relationships/image" Target="media/image2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media/image6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5.svg" /><Relationship Id="rId4" Type="http://schemas.openxmlformats.org/officeDocument/2006/relationships/image" Target="media/image3.svg" /><Relationship Id="rId5" Type="http://schemas.openxmlformats.org/officeDocument/2006/relationships/image" Target="media/image7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2" Type="http://schemas.openxmlformats.org/officeDocument/2006/relationships/image" Target="media/image2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'1280px', height: '720px', background: '#0E3F8C', position: 'relative', display: 'flex', flexDirection: 'column', padding: 0 }}&gt;&#10;&#10;    &lt;svg width={1280} height={300} viewBox='0 0 1280 300' style={{ position: 'absolute', bottom: 0, left: 0, opacity: 0.22 }}&gt;&#10;        {[30, 86, 142, 198, 254, 310, 366, 422, 478, 534, 590, 646, 702, 758, 814, 870, 926, 982, 1038, 1094, 1150, 1206, 1262].map((cx, i) =&gt; (&#10;            &lt;circle key={'o1' + i} cx={cx} cy={42} r={9} fill='#E8EFF8' /&gt;&#10;        ))}&#10;        {[58, 114, 170, 226, 282, 338, 394, 450, 506, 562, 618, 674, 730, 786, 842, 898, 954, 1010, 1066, 1122, 1178, 1234].map((cx, i) =&gt; (&#10;            &lt;circle key={'ti1' + i} cx={cx} cy={96} r={16} fill='#3D7BD9' /&gt;&#10;        ))}&#10;        {[30, 86, 142, 198, 254, 310, 366, 422, 478, 534, 590, 646, 702, 758, 814, 870, 926, 982, 1038, 1094, 1150, 1206, 1262].map((cx, i) =&gt; (&#10;            &lt;circle key={'c' + i} cx={cx} cy={152} r={10} fill='#8B97A8' /&gt;&#10;        ))}&#10;        {[58, 114, 170, 226, 282, 338, 394, 450, 506, 562, 618, 674, 730, 786, 842, 898, 954, 1010, 1066, 1122, 1178, 1234].map((cx, i) =&gt; (&#10;            &lt;circle key={'tv' + i} cx={cx} cy={208} r={16} fill={i % 4 === 1 ? '#FFC107' : '#3D7BD9'} /&gt;&#10;        ))}&#10;        {[30, 86, 142, 198, 254, 310, 366, 422, 478, 534, 590, 646, 702, 758, 814, 870, 926, 982, 1038, 1094, 1150, 1206, 1262].map((cx, i) =&gt; (&#10;            &lt;circle key={'o2' + i} cx={cx} cy={264} r={9} fill='#E8EFF8' /&gt;&#10;        ))}&#10;    &lt;/svg&gt;&#10;&#10;    &lt;Box style={{ position: 'relative', zIndex: 1, height: 720, padding: '88px 100px 56px 100px', flexDirection: 'column' }}&gt;&#10;&#10;        &lt;Box style={{ flexDirection: 'row', alignItems: 'center', gap: 14 }}&gt;&#10;            &lt;Box style={{ width: 46, height: 46, background: '#FFC107', borderRadius: 10, justifyContent: 'center', alignItems: 'center' }}&gt;&#10;                &lt;FAIcon name='atom' style={{ fill: '#0E3F8C', width: 28, height: 28 }} /&gt;&#10;            &lt;/Box&gt;&#10;            &lt;Text style={{ fontSize: 19, color: '#E8EFF8', letterSpacing: 5 }}&gt;MXene 第一性原理计算 · 进展汇报&lt;/Text&gt;&#10;        &lt;/Box&gt;&#10;&#10;        &lt;Box style={{ flexDirection: 'column', gap: 22, marginTop: 64 }}&gt;&#10;            &lt;Text style={{ fontSize: 56, fontWeight: 'bold', color: '#FFFFFF', lineHeight: 1.35 }}&gt;&#10;                V 合金化 Ti₃C₂ MXene 体系&lt;br /&gt;DFT 计算进展汇报&#10;            &lt;/Text&gt;&#10;            &lt;Text style={{ fontSize: 19, color: '#A9C4EC', letterSpacing: 1 }}&gt;&#10;                First-Principles Progress of V-Alloyed Ti₃C₂ MXenes for Supercapacitor Applications&#10;            &lt;/Text&gt;&#10;            &lt;Box style={{ width: 96, height: 5, background: '#FFC107', marginTop: 6 }} /&gt;&#10;        &lt;/Box&gt;&#10;&#10;        &lt;Box style={{ flexDirection: 'row', gap: 46, marginTop: 'auto', marginBottom: 12 }}&gt;&#10;            &lt;Text style={{ fontSize: 17, color: '#E8EFF8' }}&gt;汇报人：Atlas&lt;/Text&gt;&#10;            &lt;Text style={{ fontSize: 17, color: '#E8EFF8' }}&gt;计算平台：VASP 6.4.2 · MPI 并行&lt;/Text&gt;&#10;            &lt;Text style={{ fontSize: 17, color: '#E8EFF8' }}&gt;2026 年 9 月 15 日&lt;/Text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alphaModFix amt="22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4000500"/>
            <a:ext cx="12192000" cy="28575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952500" y="838200"/>
            <a:ext cx="438150" cy="438150"/>
          </a:xfrm>
          <a:prstGeom prst="roundRect">
            <a:avLst>
              <a:gd name="adj" fmla="val 21739"/>
            </a:avLst>
          </a:prstGeom>
          <a:solidFill>
            <a:srgbClr val="FFC107"/>
          </a:solidFill>
          <a:ln/>
        </p:spPr>
        <p:txBody>
          <a:bodyPr/>
          <a:p/>
        </p:txBody>
      </p:sp>
      <p:pic>
        <p:nvPicPr>
          <p:cNvPr id="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38225" y="923925"/>
            <a:ext cx="266700" cy="266700"/>
          </a:xfrm>
          <a:prstGeom prst="rect">
            <a:avLst/>
          </a:prstGeom>
          <a:ln/>
        </p:spPr>
      </p:pic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524000" y="952500"/>
            <a:ext cx="3762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375">
                <a:solidFill>
                  <a:srgbClr val="E8EFF8"/>
                </a:solidFill>
                <a:latin typeface="Microsoft YaHei"/>
                <a:ea typeface="Microsoft YaHei"/>
              </a:rPr>
              <a:t>MXene </a:t>
            </a:r>
            <a:r>
              <a:rPr lang="zh-CN" sz="1425" spc="375">
                <a:solidFill>
                  <a:srgbClr val="E8EFF8"/>
                </a:solidFill>
                <a:latin typeface="Microsoft YaHei"/>
                <a:ea typeface="Microsoft YaHei"/>
              </a:rPr>
              <a:t>第一性原理计算</a:t>
            </a:r>
            <a:r>
              <a:rPr lang="en-US" sz="1425" spc="375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425" spc="375">
                <a:solidFill>
                  <a:srgbClr val="E8EFF8"/>
                </a:solidFill>
                <a:latin typeface="Microsoft YaHei"/>
                <a:ea typeface="Microsoft YaHei"/>
              </a:rPr>
              <a:t>进展汇报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952500" y="1885950"/>
            <a:ext cx="10287000" cy="17335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V </a:t>
            </a: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合金化</a:t>
            </a: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 Ti₃C₂ MXene </a:t>
            </a: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体系</a:t>
            </a:r>
            <a:endParaRPr/>
          </a:p>
          <a:p>
            <a:pPr>
              <a:lnSpc>
                <a:spcPct val="135000"/>
              </a:lnSpc>
            </a:pPr>
            <a:r>
              <a:rPr lang="en-US" sz="4200" b="1">
                <a:solidFill>
                  <a:srgbClr val="FFFFFF"/>
                </a:solidFill>
                <a:latin typeface="Microsoft YaHei"/>
                <a:ea typeface="Microsoft YaHei"/>
              </a:rPr>
              <a:t>DFT </a:t>
            </a: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计算进展汇报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52500" y="3829050"/>
            <a:ext cx="10287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75">
                <a:solidFill>
                  <a:srgbClr val="A9C4EC"/>
                </a:solidFill>
                <a:latin typeface="Microsoft YaHei"/>
                <a:ea typeface="Microsoft YaHei"/>
              </a:rPr>
              <a:t>First-Principles Progress of V-Alloyed Ti₃C₂ MXenes for Supercapacitor Applications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952500" y="4314825"/>
            <a:ext cx="9144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52500" y="6010275"/>
            <a:ext cx="1028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FF8"/>
                </a:solidFill>
                <a:latin typeface="Microsoft YaHei"/>
                <a:ea typeface="Microsoft YaHei"/>
              </a:rPr>
              <a:t>汇报人：</a:t>
            </a:r>
            <a:r>
              <a:rPr lang="en-US" sz="1275">
                <a:solidFill>
                  <a:srgbClr val="E8EFF8"/>
                </a:solidFill>
                <a:latin typeface="Microsoft YaHei"/>
                <a:ea typeface="Microsoft YaHei"/>
              </a:rPr>
              <a:t>Atlas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419350" y="6010275"/>
            <a:ext cx="2438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FF8"/>
                </a:solidFill>
                <a:latin typeface="Microsoft YaHei"/>
                <a:ea typeface="Microsoft YaHei"/>
              </a:rPr>
              <a:t>计算平台：</a:t>
            </a:r>
            <a:r>
              <a:rPr lang="en-US" sz="1275">
                <a:solidFill>
                  <a:srgbClr val="E8EFF8"/>
                </a:solidFill>
                <a:latin typeface="Microsoft YaHei"/>
                <a:ea typeface="Microsoft YaHei"/>
              </a:rPr>
              <a:t>VASP 6.4.2 · MPI </a:t>
            </a:r>
            <a:r>
              <a:rPr lang="zh-CN" sz="1275">
                <a:solidFill>
                  <a:srgbClr val="E8EFF8"/>
                </a:solidFill>
                <a:latin typeface="Microsoft YaHei"/>
                <a:ea typeface="Microsoft YaHei"/>
              </a:rPr>
              <a:t>并行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5295900" y="6010275"/>
            <a:ext cx="1390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FF8"/>
                </a:solidFill>
                <a:latin typeface="Microsoft YaHei"/>
                <a:ea typeface="Microsoft YaHei"/>
              </a:rPr>
              <a:t>2026 </a:t>
            </a:r>
            <a:r>
              <a:rPr lang="zh-CN" sz="1275">
                <a:solidFill>
                  <a:srgbClr val="E8EFF8"/>
                </a:solidFill>
                <a:latin typeface="Microsoft YaHei"/>
                <a:ea typeface="Microsoft YaHei"/>
              </a:rPr>
              <a:t>年</a:t>
            </a:r>
            <a:r>
              <a:rPr lang="en-US" sz="1275">
                <a:solidFill>
                  <a:srgbClr val="E8EFF8"/>
                </a:solidFill>
                <a:latin typeface="Microsoft YaHei"/>
                <a:ea typeface="Microsoft YaHei"/>
              </a:rPr>
              <a:t> 9 </a:t>
            </a:r>
            <a:r>
              <a:rPr lang="zh-CN" sz="1275">
                <a:solidFill>
                  <a:srgbClr val="E8EFF8"/>
                </a:solidFill>
                <a:latin typeface="Microsoft YaHei"/>
                <a:ea typeface="Microsoft YaHei"/>
              </a:rPr>
              <a:t>月</a:t>
            </a:r>
            <a:r>
              <a:rPr lang="en-US" sz="1275">
                <a:solidFill>
                  <a:srgbClr val="E8EFF8"/>
                </a:solidFill>
                <a:latin typeface="Microsoft YaHei"/>
                <a:ea typeface="Microsoft YaHei"/>
              </a:rPr>
              <a:t> 15 </a:t>
            </a:r>
            <a:r>
              <a:rPr lang="zh-CN" sz="1275">
                <a:solidFill>
                  <a:srgbClr val="E8EFF8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3" name="" descr="&lt;Slide style={{ width: '1280px', height: '720px', background: '#FFFFFF', display: 'flex', flexDirection: 'row', padding: 0 }}&gt;&#10;&#10;    &lt;Box style={{ width: 400, height: 720, background: '#0E3F8C', padding: '80px 56px 64px 56px', flexDirection: 'column' }}&gt;&#10;        &lt;Text style={{ fontSize: 46, fontWeight: 'bold', color: '#FFFFFF' }}&gt;目录&lt;/Text&gt;&#10;        &lt;Text style={{ fontSize: 17, color: '#A9C4EC', letterSpacing: 7, marginTop: 12 }}&gt;CONTENTS&lt;/Text&gt;&#10;        &lt;Box style={{ width: 60, height: 4, background: '#FFC107', marginTop: 26 }} /&gt;&#10;        &lt;Text style={{ fontSize: 15, color: '#A9C4EC', marginTop: 'auto', lineHeight: 1.9 }}&gt;&#10;            Ti₃C₂ 基 V 合金化 MXene&lt;br /&gt;成分扫描 · 弛豫计算 · 进度综述&#10;        &lt;/Text&gt;&#10;    &lt;/Box&gt;&#10;&#10;    &lt;Box style={{ flex: 1, height: 720, padding: '80px 90px 80px 90px', flexDirection: 'column', justifyContent: 'center', gap: 40 }}&gt;&#10;&#10;        &lt;Box style={{ flexDirection: 'row', alignItems: 'flex-start', gap: 26 }}&gt;&#10;            &lt;Box style={{ width: 58, height: 58, background: '#1E4FA8', borderRadius: 8, justifyContent: 'center', alignItems: 'center' }}&gt;&#10;                &lt;Text style={{ fontSize: 24, fontWeight: 'bold', color: '#FFFFFF' }}&gt;01&lt;/Text&gt;&#10;            &lt;/Box&gt;&#10;            &lt;Box style={{ flexDirection: 'column', gap: 8, paddingTop: 4 }}&gt;&#10;                &lt;Text style={{ fontSize: 27, fontWeight: 'bold', color: '#1A2230' }}&gt;项目背景与科学目标&lt;/Text&gt;&#10;                &lt;Text style={{ fontSize: 16, color: '#4A5568', lineHeight: 1.6 }}&gt;&#10;                    fork 定位 · 三科学问题 · 合金化核心功能&#10;                &lt;/Text&gt;&#10;            &lt;/Box&gt;&#10;        &lt;/Box&gt;&#10;&#10;        &lt;Box style={{ flexDirection: 'row', alignItems: 'flex-start', gap: 26 }}&gt;&#10;            &lt;Box style={{ width: 58, height: 58, background: '#1E4FA8', borderRadius: 8, justifyContent: 'center', alignItems: 'center' }}&gt;&#10;                &lt;Text style={{ fontSize: 24, fontWeight: 'bold', color: '#FFFFFF' }}&gt;02&lt;/Text&gt;&#10;            &lt;/Box&gt;&#10;            &lt;Box style={{ flexDirection: 'column', gap: 8, paddingTop: 4 }}&gt;&#10;                &lt;Text style={{ fontSize: 27, fontWeight: 'bold', color: '#1A2230' }}&gt;计算方法、平台与工作流&lt;/Text&gt;&#10;                &lt;Text style={{ fontSize: 16, color: '#4A5568', lineHeight: 1.6 }}&gt;&#10;                    PBE+U 关键参数 · 自动化链路 · MPI 集群环境&#10;                &lt;/Text&gt;&#10;            &lt;/Box&gt;&#10;        &lt;/Box&gt;&#10;&#10;        &lt;Box style={{ flexDirection: 'row', alignItems: 'flex-start', gap: 26 }}&gt;&#10;            &lt;Box style={{ width: 58, height: 58, background: '#1E4FA8', borderRadius: 8, justifyContent: 'center', alignItems: 'center' }}&gt;&#10;                &lt;Text style={{ fontSize: 24, fontWeight: 'bold', color: '#FFFFFF' }}&gt;03&lt;/Text&gt;&#10;            &lt;/Box&gt;&#10;            &lt;Box style={{ flexDirection: 'column', gap: 8, paddingTop: 4 }}&gt;&#10;                &lt;Text style={{ fontSize: 27, fontWeight: 'bold', color: '#1A2230' }}&gt;问题攻坚与当前进展&lt;/Text&gt;&#10;                &lt;Text style={{ fontSize: 16, color: '#4A5568', lineHeight: 1.6 }}&gt;&#10;                    SCF / MPI 根因修复 · 并行状态 · 后续路线&#10;                &lt;/Text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0" y="0"/>
            <a:ext cx="3810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533400" y="762000"/>
            <a:ext cx="27432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33400" y="1409700"/>
            <a:ext cx="2743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525">
                <a:solidFill>
                  <a:srgbClr val="A9C4EC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533400" y="1857375"/>
            <a:ext cx="5715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533400" y="5591175"/>
            <a:ext cx="2743200" cy="6572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125">
                <a:solidFill>
                  <a:srgbClr val="A9C4EC"/>
                </a:solidFill>
                <a:latin typeface="Microsoft YaHei"/>
                <a:ea typeface="Microsoft YaHei"/>
              </a:rPr>
              <a:t>Ti₃C₂ </a:t>
            </a:r>
            <a:r>
              <a:rPr lang="zh-CN" sz="1125">
                <a:solidFill>
                  <a:srgbClr val="A9C4EC"/>
                </a:solidFill>
                <a:latin typeface="Microsoft YaHei"/>
                <a:ea typeface="Microsoft YaHei"/>
              </a:rPr>
              <a:t>基</a:t>
            </a:r>
            <a:r>
              <a:rPr lang="en-US" sz="1125">
                <a:solidFill>
                  <a:srgbClr val="A9C4EC"/>
                </a:solidFill>
                <a:latin typeface="Microsoft YaHei"/>
                <a:ea typeface="Microsoft YaHei"/>
              </a:rPr>
              <a:t> V </a:t>
            </a:r>
            <a:r>
              <a:rPr lang="zh-CN" sz="1125">
                <a:solidFill>
                  <a:srgbClr val="A9C4EC"/>
                </a:solidFill>
                <a:latin typeface="Microsoft YaHei"/>
                <a:ea typeface="Microsoft YaHei"/>
              </a:rPr>
              <a:t>合金化</a:t>
            </a:r>
            <a:r>
              <a:rPr lang="en-US" sz="1125">
                <a:solidFill>
                  <a:srgbClr val="A9C4EC"/>
                </a:solidFill>
                <a:latin typeface="Microsoft YaHei"/>
                <a:ea typeface="Microsoft YaHei"/>
              </a:rPr>
              <a:t> MXene</a:t>
            </a:r>
            <a:endParaRPr/>
          </a:p>
          <a:p>
            <a:pPr>
              <a:lnSpc>
                <a:spcPct val="190000"/>
              </a:lnSpc>
            </a:pPr>
            <a:r>
              <a:rPr lang="zh-CN" sz="1125">
                <a:solidFill>
                  <a:srgbClr val="A9C4EC"/>
                </a:solidFill>
                <a:latin typeface="Microsoft YaHei"/>
                <a:ea typeface="Microsoft YaHei"/>
              </a:rPr>
              <a:t>成分扫描</a:t>
            </a:r>
            <a:r>
              <a:rPr lang="en-US" sz="1125">
                <a:solidFill>
                  <a:srgbClr val="A9C4EC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A9C4EC"/>
                </a:solidFill>
                <a:latin typeface="Microsoft YaHei"/>
                <a:ea typeface="Microsoft YaHei"/>
              </a:rPr>
              <a:t>弛豫计算</a:t>
            </a:r>
            <a:r>
              <a:rPr lang="en-US" sz="1125">
                <a:solidFill>
                  <a:srgbClr val="A9C4EC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A9C4EC"/>
                </a:solidFill>
                <a:latin typeface="Microsoft YaHei"/>
                <a:ea typeface="Microsoft YaHei"/>
              </a:rPr>
              <a:t>进度综述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4667250" y="196215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4800600" y="210502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467350" y="2000250"/>
            <a:ext cx="272415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项目背景与科学目标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467350" y="2390775"/>
            <a:ext cx="2724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fork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定位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三科学问题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合金化核心功能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4667250" y="306705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800600" y="320992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467350" y="3105150"/>
            <a:ext cx="311467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计算方法、平台与工作流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467350" y="3495675"/>
            <a:ext cx="31146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PBE+U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关键参数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自动化链路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MPI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集群环境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4667250" y="417195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800600" y="4314825"/>
            <a:ext cx="2857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467350" y="4210050"/>
            <a:ext cx="2847975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问题攻坚与当前进展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467350" y="4600575"/>
            <a:ext cx="28479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SCF / MPI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根因修复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并行状态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后续路线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2" name="" descr="&lt;Slide style={{ width: '1280px', height: '720px', background: '#FFFFFF', display: 'flex', flexDirection: 'column', padding: 0 }}&gt;&#10;&#10;    &lt;Box style={{ height: 72, background: '#0E3F8C', flexDirection: 'row', alignItems: 'center', justifyContent: 'space-between', padding: '0 40px' }}&gt;&#10;        &lt;Text style={{ fontSize: 26, fontWeight: 'bold', color: '#FFFFFF' }}&gt;项目背景与科学目标&lt;/Text&gt;&#10;        &lt;Text style={{ fontSize: 15, color: '#A9C4EC', letterSpacing: 2 }}&gt;01 · 项目背景&lt;/Text&gt;&#10;    &lt;/Box&gt;&#10;&#10;    &lt;Box style={{ flex: 1, flexDirection: 'row', gap: 26, padding: '22px 40px' }}&gt;&#10;&#10;        &lt;Box style={{ width: 430, flexDirection: 'column', gap: 16 }}&gt;&#10;            &lt;Box style={{ flex: 1, background: '#F0F5FC', border: '1px solid #D6DCE5', borderRadius: 8, padding: '18px 22px', flexDirection: 'column', gap: 10 }}&gt;&#10;                &lt;Box style={{ flexDirection: 'row', alignItems: 'center', gap: 10 }}&gt;&#10;                    &lt;FAIcon name='code-branch' style={{ fill: '#1E4FA8', width: 22, height: 22 }} /&gt;&#10;                    &lt;Text style={{ fontSize: 20, fontWeight: 'bold', color: '#0E3F8C' }}&gt;项目定位&lt;/Text&gt;&#10;                &lt;/Box&gt;&#10;                &lt;Text style={{ fontSize: 15, color: '#4A5568', lineHeight: 1.8 }}&gt;&#10;                    fork &lt;span style={{ fontWeight: 'bold', color: '#1A2230' }}&gt;diegonti/VASP-MXenes&lt;/span&gt; 的 &lt;span style={{ fontWeight: 'bold', color: '#1A2230' }}&gt;alloy-mxene-tiv&lt;/span&gt; 分支（&lt;span style={{ fontWeight: 'bold', color: '#1A2230' }}&gt;AshValkan/VASP-MXenes&lt;/span&gt;），在其单金属 MXene 工作流骨架上，扩展为可处理 &lt;span style={{ fontWeight: 'bold', color: '#0E3F8C' }}&gt;Ti₃₋ᵧVᵧC₂O₂ 双金属固溶体系&lt;/span&gt;，并以 &lt;span style={{ fontWeight: 'bold', color: '#0E3F8C' }}&gt;d 带中心&lt;/span&gt; 为核心描述符。&#10;                &lt;/Text&gt;&#10;            &lt;/Box&gt;&#10;&#10;            &lt;Box style={{ background: '#0E3F8C', borderRadius: 8, padding: '16px 22px', flexDirection: 'column', gap: 8 }}&gt;&#10;                &lt;Text style={{ fontSize: 18, fontWeight: 'bold', color: '#FFFFFF' }}&gt;合金化核心功能&lt;/Text&gt;&#10;                &lt;Text style={{ fontSize: 14, color: '#CFE0F5', lineHeight: 1.75 }}&gt;&#10;                    结构建模与 VASP 输入自动生成 · d 带中心 / 形成能解析 · H/Li/Na/K 吸附与 CI-NEB 势垒 · 一键论文图表输出&#10;                &lt;/Text&gt;&#10;            &lt;/Box&gt;&#10;        &lt;/Box&gt;&#10;&#10;        &lt;Box style={{ flex: 1, flexDirection: 'column', gap: 14 }}&gt;&#10;            &lt;Text style={{ fontSize: 20, fontWeight: 'bold', color: '#0E3F8C' }}&gt;三个科学问题&lt;/Text&gt;&#10;&#10;            &lt;Box style={{ flex: 1, background: '#FFFFFF', border: '1px solid #D6DCE5', borderLeft: '4px solid #1E4FA8', borderRadius: 6, padding: '14px 18px', flexDirection: 'column', gap: 6 }}&gt;&#10;                &lt;Text style={{ fontSize: 17, fontWeight: 'bold', color: '#1A2230' }}&gt;Q1 · V 占据外层还是内层？&lt;/Text&gt;&#10;                &lt;Text style={{ fontSize: 15, color: '#4A5568', lineHeight: 1.6 }}&gt;手段：&lt;span style={{ fontWeight: 'bold', color: '#0E3F8C' }}&gt;alloy.py&lt;/span&gt; 生成 outer/inner 显式构型，&lt;span style={{ fontWeight: 'bold', color: '#0E3F8C' }}&gt;site_preference()&lt;/span&gt; 给出能量差&lt;/Text&gt;&#10;            &lt;/Box&gt;&#10;&#10;            &lt;Box style={{ flex: 1, background: '#FFFFFF', border: '1px solid #D6DCE5', borderLeft: '4px solid #1E4FA8', borderRadius: 6, padding: '14px 18px', flexDirection: 'column', gap: 6 }}&gt;&#10;                &lt;Text style={{ fontSize: 17, fontWeight: 'bold', color: '#1A2230' }}&gt;Q2 · V 是否使 d 带中心移向费米能级？&lt;/Text&gt;&#10;                &lt;Text style={{ fontSize: 15, color: '#4A5568', lineHeight: 1.6 }}&gt;手段：&lt;span style={{ fontWeight: 'bold', color: '#0E3F8C' }}&gt;dband.py&lt;/span&gt; 计算分元素、分原子层 ε_d，并给出线性拟合 R²&lt;/Text&gt;&#10;            &lt;/Box&gt;&#10;&#10;            &lt;Box style={{ flex: 1, background: '#FFFFFF', border: '1px solid #D6DCE5', borderLeft: '4px solid #1E4FA8', borderRadius: 6, padding: '14px 18px', flexDirection: 'column', gap: 6 }}&gt;&#10;                &lt;Text style={{ fontSize: 17, fontWeight: 'bold', color: '#1A2230' }}&gt;Q3 · 电子结构如何传递至容量 / 倍率 / 循环？&lt;/Text&gt;&#10;                &lt;Text style={{ fontSize: 15, color: '#4A5568', lineHeight: 1.6 }}&gt;手段：&lt;span style={{ fontWeight: 'bold', color: '#0E3F8C' }}&gt;adsorption.py&lt;/span&gt; 吸附能 + &lt;span style={{ fontWeight: 'bold', color: '#0E3F8C' }}&gt;neb.py&lt;/span&gt; 势垒 + 实测交叉作图&lt;/Text&gt;&#10;            &lt;/Box&gt;&#10;        &lt;/Box&gt;&#10;&#10;    &lt;/Box&gt;&#10;&#10;    &lt;Box style={{ height: 59, background: '#F7F9FC', flexDirection: 'row', alignItems: 'center', justifyContent: 'space-between', padding: '0 40px' }}&gt;&#10;        &lt;Text style={{ fontSize: 13, color: '#8B97A8' }}&gt;V 合金化 Ti₃C₂ MXene · DFT 计算进展汇报&lt;/Text&gt;&#10;        &lt;Text style={{ fontSize: 14, fontWeight: 'bold', color: '#1E4FA8' }}&gt;03 / 0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2228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项目背景与科学目标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0772775" y="257175"/>
            <a:ext cx="1038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A9C4EC"/>
                </a:solidFill>
                <a:latin typeface="Microsoft YaHei"/>
                <a:ea typeface="Microsoft YaHei"/>
              </a:rPr>
              <a:t>01 · </a:t>
            </a:r>
            <a:r>
              <a:rPr lang="zh-CN" sz="1125" spc="150">
                <a:solidFill>
                  <a:srgbClr val="A9C4EC"/>
                </a:solidFill>
                <a:latin typeface="Microsoft YaHei"/>
                <a:ea typeface="Microsoft YaHei"/>
              </a:rPr>
              <a:t>项目背景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381000" y="895350"/>
            <a:ext cx="4095750" cy="3886200"/>
          </a:xfrm>
          <a:prstGeom prst="roundRect">
            <a:avLst>
              <a:gd name="adj" fmla="val 196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076325"/>
            <a:ext cx="209550" cy="209550"/>
          </a:xfrm>
          <a:prstGeom prst="rect">
            <a:avLst/>
          </a:prstGeom>
          <a:ln/>
        </p:spPr>
      </p:pic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95350" y="10668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项目定位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90550" y="1390650"/>
            <a:ext cx="367665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fork </a:t>
            </a: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diegonti/VASP-MXenes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alloy-mxene-tiv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分支（</a:t>
            </a: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AshValkan/VASP-MXenes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），在其单金属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MXene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工作流骨架上，扩展为可处理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Ti₃₋ᵧVᵧC₂O₂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双金属固溶体系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，并以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d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带中心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为核心描述符。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381000" y="4933950"/>
            <a:ext cx="4095750" cy="1152525"/>
          </a:xfrm>
          <a:prstGeom prst="roundRect">
            <a:avLst>
              <a:gd name="adj" fmla="val 6612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90550" y="5086350"/>
            <a:ext cx="3676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合金化核心功能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90550" y="5372100"/>
            <a:ext cx="367665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CFE0F5"/>
                </a:solidFill>
                <a:latin typeface="Microsoft YaHei"/>
                <a:ea typeface="Microsoft YaHei"/>
              </a:rPr>
              <a:t>结构建模与</a:t>
            </a:r>
            <a:r>
              <a:rPr lang="en-US" sz="1050">
                <a:solidFill>
                  <a:srgbClr val="CFE0F5"/>
                </a:solidFill>
                <a:latin typeface="Microsoft YaHei"/>
                <a:ea typeface="Microsoft YaHei"/>
              </a:rPr>
              <a:t> VASP </a:t>
            </a:r>
            <a:r>
              <a:rPr lang="zh-CN" sz="1050">
                <a:solidFill>
                  <a:srgbClr val="CFE0F5"/>
                </a:solidFill>
                <a:latin typeface="Microsoft YaHei"/>
                <a:ea typeface="Microsoft YaHei"/>
              </a:rPr>
              <a:t>输入自动生成</a:t>
            </a:r>
            <a:r>
              <a:rPr lang="en-US" sz="1050">
                <a:solidFill>
                  <a:srgbClr val="CFE0F5"/>
                </a:solidFill>
                <a:latin typeface="Microsoft YaHei"/>
                <a:ea typeface="Microsoft YaHei"/>
              </a:rPr>
              <a:t> · d </a:t>
            </a:r>
            <a:r>
              <a:rPr lang="zh-CN" sz="1050">
                <a:solidFill>
                  <a:srgbClr val="CFE0F5"/>
                </a:solidFill>
                <a:latin typeface="Microsoft YaHei"/>
                <a:ea typeface="Microsoft YaHei"/>
              </a:rPr>
              <a:t>带中心</a:t>
            </a:r>
            <a:r>
              <a:rPr lang="en-US" sz="1050">
                <a:solidFill>
                  <a:srgbClr val="CFE0F5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CFE0F5"/>
                </a:solidFill>
                <a:latin typeface="Microsoft YaHei"/>
                <a:ea typeface="Microsoft YaHei"/>
              </a:rPr>
              <a:t>形成能解析</a:t>
            </a:r>
            <a:r>
              <a:rPr lang="en-US" sz="1050">
                <a:solidFill>
                  <a:srgbClr val="CFE0F5"/>
                </a:solidFill>
                <a:latin typeface="Microsoft YaHei"/>
                <a:ea typeface="Microsoft YaHei"/>
              </a:rPr>
              <a:t> · H/Li/Na/K </a:t>
            </a:r>
            <a:r>
              <a:rPr lang="zh-CN" sz="1050">
                <a:solidFill>
                  <a:srgbClr val="CFE0F5"/>
                </a:solidFill>
                <a:latin typeface="Microsoft YaHei"/>
                <a:ea typeface="Microsoft YaHei"/>
              </a:rPr>
              <a:t>吸附与</a:t>
            </a:r>
            <a:r>
              <a:rPr lang="en-US" sz="1050">
                <a:solidFill>
                  <a:srgbClr val="CFE0F5"/>
                </a:solidFill>
                <a:latin typeface="Microsoft YaHei"/>
                <a:ea typeface="Microsoft YaHei"/>
              </a:rPr>
              <a:t> CI-NEB </a:t>
            </a:r>
            <a:r>
              <a:rPr lang="zh-CN" sz="1050">
                <a:solidFill>
                  <a:srgbClr val="CFE0F5"/>
                </a:solidFill>
                <a:latin typeface="Microsoft YaHei"/>
                <a:ea typeface="Microsoft YaHei"/>
              </a:rPr>
              <a:t>势垒</a:t>
            </a:r>
            <a:r>
              <a:rPr lang="en-US" sz="1050">
                <a:solidFill>
                  <a:srgbClr val="CFE0F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CFE0F5"/>
                </a:solidFill>
                <a:latin typeface="Microsoft YaHei"/>
                <a:ea typeface="Microsoft YaHei"/>
              </a:rPr>
              <a:t>一键论文图表输出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4724400" y="895350"/>
            <a:ext cx="7086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三个科学问题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4762500" y="1257300"/>
            <a:ext cx="7086600" cy="1524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4762500" y="1257300"/>
            <a:ext cx="7086600" cy="1524000"/>
          </a:xfrm>
          <a:custGeom>
            <a:pathLst>
              <a:path w="744" h="160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58"/>
                </a:lnTo>
                <a:cubicBezTo>
                  <a:pt x="4" y="159"/>
                  <a:pt x="5" y="160"/>
                  <a:pt x="6" y="160"/>
                </a:cubicBezTo>
                <a:cubicBezTo>
                  <a:pt x="3" y="160"/>
                  <a:pt x="0" y="157"/>
                  <a:pt x="0" y="15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933950" y="1390650"/>
            <a:ext cx="670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Q1 · V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占据外层还是内层？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933950" y="1647825"/>
            <a:ext cx="6705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手段：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alloy.py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生成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outer/inner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显式构型，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site_preference()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给出能量差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4762500" y="2914650"/>
            <a:ext cx="7086600" cy="1514475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4762500" y="2914650"/>
            <a:ext cx="7086600" cy="1514475"/>
          </a:xfrm>
          <a:custGeom>
            <a:pathLst>
              <a:path w="744" h="159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57"/>
                </a:lnTo>
                <a:cubicBezTo>
                  <a:pt x="4" y="158"/>
                  <a:pt x="5" y="159"/>
                  <a:pt x="6" y="159"/>
                </a:cubicBezTo>
                <a:cubicBezTo>
                  <a:pt x="3" y="159"/>
                  <a:pt x="0" y="156"/>
                  <a:pt x="0" y="153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933950" y="3048000"/>
            <a:ext cx="670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Q2 · V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是否使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 d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带中心移向费米能级？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933950" y="3305175"/>
            <a:ext cx="6705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手段：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dband.py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计算分元素、分原子层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ε_d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，并给出线性拟合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R²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4762500" y="4562475"/>
            <a:ext cx="7086600" cy="1524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"/>
          <p:cNvSpPr/>
          <p:nvPr/>
        </p:nvSpPr>
        <p:spPr>
          <a:xfrm rot="0" flipH="0" flipV="0">
            <a:off x="4762500" y="4562475"/>
            <a:ext cx="7086600" cy="1524000"/>
          </a:xfrm>
          <a:custGeom>
            <a:pathLst>
              <a:path w="744" h="160">
                <a:moveTo>
                  <a:pt x="6" y="0"/>
                </a:moveTo>
                <a:cubicBezTo>
                  <a:pt x="5" y="0"/>
                  <a:pt x="4" y="1"/>
                  <a:pt x="4" y="2"/>
                </a:cubicBezTo>
                <a:lnTo>
                  <a:pt x="4" y="158"/>
                </a:lnTo>
                <a:cubicBezTo>
                  <a:pt x="4" y="159"/>
                  <a:pt x="5" y="160"/>
                  <a:pt x="6" y="160"/>
                </a:cubicBezTo>
                <a:cubicBezTo>
                  <a:pt x="3" y="160"/>
                  <a:pt x="0" y="157"/>
                  <a:pt x="0" y="15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933950" y="4695825"/>
            <a:ext cx="670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Q3 ·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电子结构如何传递至容量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倍率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循环？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933950" y="4953000"/>
            <a:ext cx="6705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手段：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adsorption.py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吸附能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neb.py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势垒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实测交叉作图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0" y="6296025"/>
            <a:ext cx="12192000" cy="5619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381000" y="6505575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V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合金化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Ti₃C₂ MXene · DFT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计算进展汇报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1334750" y="64960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03 / 09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60" name="" descr="&lt;Slide style={{ width: '1280px', height: '720px', background: '#FFFFFF', display: 'flex', flexDirection: 'column', padding: 0 }}&gt;&#10;&#10;    &lt;Box style={{ height: 72, background: '#0E3F8C', flexDirection: 'row', alignItems: 'center', justifyContent: 'space-between', padding: '0 40px' }}&gt;&#10;        &lt;Text style={{ fontSize: 26, fontWeight: 'bold', color: '#FFFFFF' }}&gt;计算体系与方法参数&lt;/Text&gt;&#10;        &lt;Text style={{ fontSize: 15, color: '#A9C4EC', letterSpacing: 2 }}&gt;01 · 计算方法&lt;/Text&gt;&#10;    &lt;/Box&gt;&#10;&#10;    &lt;Box style={{ flex: 1, flexDirection: 'row', gap: 26, padding: '22px 40px' }}&gt;&#10;&#10;        &lt;Box style={{ width: 330, flexDirection: 'column', gap: 14 }}&gt;&#10;&#10;            &lt;Box style={{ flex: 1, background: '#F0F5FC', border: '1px solid #D6DCE5', borderRadius: 8, padding: '18px 22px', flexDirection: 'column', gap: 10 }}&gt;&#10;                &lt;Box style={{ flexDirection: 'row', alignItems: 'center', gap: 10 }}&gt;&#10;                    &lt;Box style={{ width: 26, height: 26, background: '#1E4FA8', borderRadius: 5, justifyContent: 'center', alignItems: 'center' }}&gt;&#10;                        &lt;Text style={{ fontSize: 13, fontWeight: 'bold', color: '#FFFFFF' }}&gt;1&lt;/Text&gt;&#10;                    &lt;/Box&gt;&#10;                    &lt;Text style={{ fontSize: 20, fontWeight: 'bold', color: '#0E3F8C' }}&gt;成分扫描设计&lt;/Text&gt;&#10;                &lt;/Box&gt;&#10;                &lt;Text style={{ fontSize: 19, fontWeight: 'bold', color: '#1A2230' }}&gt;&#10;                    Ti&lt;span style={{ fontSize: 13 }}&gt;3−y&lt;/span&gt;V&lt;span style={{ fontSize: 13 }}&gt;y&lt;/span&gt;C&lt;span style={{ fontSize: 13 }}&gt;2&lt;/span&gt;O&lt;span style={{ fontSize: 13 }}&gt;2&lt;/span&gt;（O 端基）&#10;                &lt;/Text&gt;&#10;                &lt;Text style={{ fontSize: 15, color: '#4A5568', lineHeight: 1.75 }}&gt;&#10;                    s2×2 超胞，V 替代外层 Ti 位点&lt;br /&gt;成分点 y = 0 / 0.5 / 1.0 / 1.5&lt;br /&gt;y = 0 端点为 Ti₃C₂ 基线对照&#10;                &lt;/Text&gt;&#10;            &lt;/Box&gt;&#10;&#10;            &lt;Box style={{ flex: 1, background: '#F0F5FC', border: '1px solid #D6DCE5', borderRadius: 8, padding: '18px 22px', flexDirection: 'column', gap: 10 }}&gt;&#10;                &lt;Box style={{ flexDirection: 'row', alignItems: 'center', gap: 10 }}&gt;&#10;                    &lt;Box style={{ width: 26, height: 26, background: '#1E4FA8', borderRadius: 5, justifyContent: 'center', alignItems: 'center' }}&gt;&#10;                        &lt;Text style={{ fontSize: 13, fontWeight: 'bold', color: '#FFFFFF' }}&gt;2&lt;/Text&gt;&#10;                    &lt;/Box&gt;&#10;                    &lt;Text style={{ fontSize: 20, fontWeight: 'bold', color: '#0E3F8C' }}&gt;提速与精度折衷&lt;/Text&gt;&#10;                &lt;/Box&gt;&#10;                &lt;Text style={{ fontSize: 15, color: '#4A5568', lineHeight: 1.75 }}&gt;&#10;                    SIGMA 0.05 → 0.10 eV&lt;br /&gt;k 网格 4×4×1 → 3×3×1&lt;br /&gt;电子步成本显著下降&#10;                &lt;/Text&gt;&#10;                &lt;Text style={{ fontSize: 15, color: '#0E3F8C', lineHeight: 1.7 }}&gt;&#10;                    折衷以形成能趋势与 d 带中心对比为目标；关键成分点可加密 k 点复核&#10;                &lt;/Text&gt;&#10;            &lt;/Box&gt;&#10;&#10;            &lt;Box style={{ height: 78, background: '#0E3F8C', borderRadius: 8, padding: '14px 20px', justifyContent: 'center' }}&gt;&#10;                &lt;Text style={{ fontSize: 15, color: '#FFFFFF', lineHeight: 1.65 }}&gt;&#10;                    上述参数为 4 个成分点统一配置，与服务器各任务 INCAR 实文件逐一核对一致&#10;                &lt;/Text&gt;&#10;            &lt;/Box&gt;&#10;&#10;        &lt;/Box&gt;&#10;&#10;        &lt;Box style={{ flex: 1, flexDirection: 'column', gap: 10 }}&gt;&#10;            &lt;Text style={{ fontSize: 20, fontWeight: 'bold', color: '#0E3F8C' }}&gt;INCAR 关键参数&lt;/Text&gt;&#10;            &lt;Table&#10;                style={{ width: '100%', flex: 1 }}&#10;                defaultTextStyle={{ fontSize: 17, textAlign: 'center', color: '#1A2230' }}&#10;                defaultCellStyle={{&#10;                    border: {&#10;                        left: { width: 1, color: '#D6DCE5' },&#10;                        right: { width: 1, color: '#D6DCE5' },&#10;                        top: { width: 1, color: '#D6DCE5' },&#10;                        bottom: { width: 1, color: '#D6DCE5' },&#10;                    },&#10;                }}&#10;                cells={[&#10;                    [&#10;                        { text: '参数', textStyle: { bold: true, color: '#FFFFFF' }, cellStyle: { background: { color: '#1E4FA8' } } },&#10;                        { text: '设定值', textStyle: { bold: true, color: '#FFFFFF' }, cellStyle: { background: { color: '#1E4FA8' } } },&#10;                        { text: '说明', textStyle: { bold: true, color: '#FFFFFF' }, cellStyle: { background: { color: '#1E4FA8' } } },&#10;                    ],&#10;                    ['交换关联泛函', 'PBE (GGA)', 'PAW 赝势'],&#10;                    ['DFT+U 校正', 'U = 2.5 eV', 'Ti / V d 轨道'],&#10;                    ['平面波截断能', 'ENCUT = 550 eV', '基组收敛'],&#10;                    ['k 点网格', '3×3×1', 'Γ 中心'],&#10;                    ['自旋极化', 'ISPIN = 2', '磁性基态'],&#10;                    ['色散校正', 'IVDW = 11', 'DFT-D3'],&#10;                    ['展宽', 'SIGMA = 0.10 eV', '提速折衷'],&#10;                    ['电子步收敛', 'EDIFF = 1×10⁻⁵ eV', 'SCF 判据'],&#10;                    ['离子步收敛', 'EDIFFG = −0.02 eV/Å', '力判据'],&#10;                    ['线性混合', 'AMIX = 0.2 · BMIX = 0.0001', 'SCF 稳幅'],&#10;                    ['实空间投影', 'LREAL = AUTO', '超胞提速'],&#10;                ]}&#10;            /&gt;&#10;        &lt;/Box&gt;&#10;&#10;    &lt;/Box&gt;&#10;&#10;    &lt;Box style={{ height: 59, background: '#F7F9FC', flexDirection: 'row', alignItems: 'center', justifyContent: 'space-between', padding: '0 40px' }}&gt;&#10;        &lt;Text style={{ fontSize: 13, color: '#8B97A8' }}&gt;V 合金化 Ti₃C₂ MXene · DFT 计算进展汇报&lt;/Text&gt;&#10;        &lt;Text style={{ fontSize: 14, fontWeight: 'bold', color: '#1E4FA8' }}&gt;04 / 0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2228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计算体系与方法参数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0772775" y="257175"/>
            <a:ext cx="1038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A9C4EC"/>
                </a:solidFill>
                <a:latin typeface="Microsoft YaHei"/>
                <a:ea typeface="Microsoft YaHei"/>
              </a:rPr>
              <a:t>01 · </a:t>
            </a:r>
            <a:r>
              <a:rPr lang="zh-CN" sz="1125" spc="150">
                <a:solidFill>
                  <a:srgbClr val="A9C4EC"/>
                </a:solidFill>
                <a:latin typeface="Microsoft YaHei"/>
                <a:ea typeface="Microsoft YaHei"/>
              </a:rPr>
              <a:t>计算方法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381000" y="895350"/>
            <a:ext cx="3143250" cy="1905000"/>
          </a:xfrm>
          <a:prstGeom prst="roundRect">
            <a:avLst>
              <a:gd name="adj" fmla="val 400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590550" y="1066800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76275" y="111442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933450" y="1076325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成分扫描设计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590550" y="1409700"/>
            <a:ext cx="2724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Ti</a:t>
            </a:r>
            <a:r>
              <a:rPr lang="en-US" sz="975" b="1">
                <a:solidFill>
                  <a:srgbClr val="1A2230"/>
                </a:solidFill>
                <a:latin typeface="Microsoft YaHei"/>
                <a:ea typeface="Microsoft YaHei"/>
              </a:rPr>
              <a:t>3−y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V</a:t>
            </a:r>
            <a:r>
              <a:rPr lang="en-US" sz="975" b="1">
                <a:solidFill>
                  <a:srgbClr val="1A2230"/>
                </a:solidFill>
                <a:latin typeface="Microsoft YaHei"/>
                <a:ea typeface="Microsoft YaHei"/>
              </a:rPr>
              <a:t>y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C</a:t>
            </a:r>
            <a:r>
              <a:rPr lang="en-US" sz="975" b="1">
                <a:solidFill>
                  <a:srgbClr val="1A2230"/>
                </a:solidFill>
                <a:latin typeface="Microsoft YaHei"/>
                <a:ea typeface="Microsoft YaHei"/>
              </a:rPr>
              <a:t>2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O</a:t>
            </a:r>
            <a:r>
              <a:rPr lang="en-US" sz="975" b="1">
                <a:solidFill>
                  <a:srgbClr val="1A2230"/>
                </a:solidFill>
                <a:latin typeface="Microsoft YaHei"/>
                <a:ea typeface="Microsoft YaHei"/>
              </a:rPr>
              <a:t>2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O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端基）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90550" y="1724025"/>
            <a:ext cx="2724150" cy="9048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s2×2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超胞，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V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替代外层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Ti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位点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成分点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y = 0 / 0.5 / 1.0 / 1.5</a:t>
            </a:r>
            <a:endParaRPr/>
          </a:p>
          <a:p>
            <a:pPr>
              <a:lnSpc>
                <a:spcPct val="17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y = 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端点为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Ti₃C₂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基线对照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381000" y="2933700"/>
            <a:ext cx="3143250" cy="2276475"/>
          </a:xfrm>
          <a:prstGeom prst="roundRect">
            <a:avLst>
              <a:gd name="adj" fmla="val 3347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590550" y="3105150"/>
            <a:ext cx="247650" cy="247650"/>
          </a:xfrm>
          <a:prstGeom prst="roundRect">
            <a:avLst>
              <a:gd name="adj" fmla="val 1923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76275" y="3152775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933450" y="3114675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提速与精度折衷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90550" y="3448050"/>
            <a:ext cx="2724150" cy="90487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SIGMA 0.05 → 0.10 eV</a:t>
            </a:r>
            <a:endParaRPr/>
          </a:p>
          <a:p>
            <a:pPr>
              <a:lnSpc>
                <a:spcPct val="17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k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网格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4×4×1 → 3×3×1</a:t>
            </a:r>
            <a:endParaRPr/>
          </a:p>
          <a:p>
            <a:pPr>
              <a:lnSpc>
                <a:spcPct val="17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电子步成本显著下降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90550" y="4448175"/>
            <a:ext cx="2724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折衷以形成能趋势与</a:t>
            </a:r>
            <a:r>
              <a:rPr lang="en-US" sz="1125">
                <a:solidFill>
                  <a:srgbClr val="0E3F8C"/>
                </a:solidFill>
                <a:latin typeface="Microsoft YaHei"/>
                <a:ea typeface="Microsoft YaHei"/>
              </a:rPr>
              <a:t> d </a:t>
            </a: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带中心对比为目标；关键成分点可加密</a:t>
            </a:r>
            <a:r>
              <a:rPr lang="en-US" sz="1125">
                <a:solidFill>
                  <a:srgbClr val="0E3F8C"/>
                </a:solidFill>
                <a:latin typeface="Microsoft YaHei"/>
                <a:ea typeface="Microsoft YaHei"/>
              </a:rPr>
              <a:t> k </a:t>
            </a:r>
            <a:r>
              <a:rPr lang="zh-CN" sz="1125">
                <a:solidFill>
                  <a:srgbClr val="0E3F8C"/>
                </a:solidFill>
                <a:latin typeface="Microsoft YaHei"/>
                <a:ea typeface="Microsoft YaHei"/>
              </a:rPr>
              <a:t>点复核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381000" y="5343525"/>
            <a:ext cx="3143250" cy="742950"/>
          </a:xfrm>
          <a:prstGeom prst="roundRect">
            <a:avLst>
              <a:gd name="adj" fmla="val 1025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71500" y="5429250"/>
            <a:ext cx="2762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上述参数为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 4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个成分点统一配置，与服务器各任务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 INCAR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实文件逐一核对一致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771900" y="895350"/>
            <a:ext cx="8039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INCAR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关键参数</a:t>
            </a:r>
            <a:endParaRPr/>
          </a:p>
        </p:txBody>
      </p:sp>
      <p:graphicFrame>
        <p:nvGraphicFramePr>
          <p:cNvPr id="80" name=""/>
          <p:cNvGraphicFramePr/>
          <p:nvPr/>
        </p:nvGraphicFramePr>
        <p:xfrm rot="0" flipH="0" flipV="0">
          <a:off x="3771900" y="1219200"/>
          <a:ext cx="8039100" cy="4867275"/>
        </p:xfrm>
        <a:graphic>
          <a:graphicData uri="http://schemas.openxmlformats.org/drawingml/2006/table">
            <a:tbl>
              <a:tblGrid>
                <a:gridCol w="1968327">
                  <a:extLst>
                    <a:ext uri="{9D8B030D-6E8A-4147-A177-3AD203B41FA5}">
                      <a16:colId val="1"/>
                    </a:ext>
                  </a:extLst>
                </a:gridCol>
                <a:gridCol w="4155358">
                  <a:extLst>
                    <a:ext uri="{9D8B030D-6E8A-4147-A177-3AD203B41FA5}">
                      <a16:colId val="2"/>
                    </a:ext>
                  </a:extLst>
                </a:gridCol>
                <a:gridCol w="1915415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0560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参数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设定值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0560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交换关联泛函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PBE (GGA)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PAW 赝势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0560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DFT+U 校正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U = 2.5 eV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Ti / V d 轨道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0560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平面波截断能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ENCUT = 550 eV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基组收敛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0560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k 点网格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3×3×1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Γ 中心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0560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自旋极化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ISPIN = 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磁性基态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0560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色散校正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IVDW = 11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DFT-D3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0560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展宽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SIGMA = 0.10 eV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提速折衷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0560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电子步收敛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EDIFF = 1×10⁻⁵ eV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SCF 判据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40560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离子步收敛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EDIFFG = −0.02 eV/Å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力判据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  <a:tr h="40560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线性混合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AMIX = 0.2 · BMIX = 0.0001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SCF 稳幅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1"/>
                  </a:ext>
                </a:extLst>
              </a:tr>
              <a:tr h="405606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实空间投影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LREAL = AUTO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超胞提速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2"/>
                  </a:ext>
                </a:extLst>
              </a:tr>
            </a:tbl>
          </a:graphicData>
        </a:graphic>
      </p:graphicFrame>
      <p:sp>
        <p:nvSpPr>
          <p:cNvPr id="81" name=""/>
          <p:cNvSpPr/>
          <p:nvPr/>
        </p:nvSpPr>
        <p:spPr>
          <a:xfrm rot="0" flipH="0" flipV="0">
            <a:off x="0" y="6296025"/>
            <a:ext cx="12192000" cy="5619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81000" y="6505575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V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合金化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Ti₃C₂ MXene · DFT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计算进展汇报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1334750" y="64960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09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4" name="" descr="&lt;Slide style={{ width: '1280px', height: '720px', background: '#FFFFFF', display: 'flex', flexDirection: 'column', padding: 0 }}&gt;&#10;&#10;    &lt;Box style={{ height: 72, background: '#0E3F8C', flexDirection: 'row', alignItems: 'center', justifyContent: 'space-between', padding: '0 40px' }}&gt;&#10;        &lt;Text style={{ fontSize: 26, fontWeight: 'bold', color: '#FFFFFF' }}&gt;计算平台与自动化工作流&lt;/Text&gt;&#10;        &lt;Text style={{ fontSize: 15, color: '#A9C4EC', letterSpacing: 2 }}&gt;02 · 平台与工作流&lt;/Text&gt;&#10;    &lt;/Box&gt;&#10;&#10;    &lt;Box style={{ flex: 1, flexDirection: 'column', gap: 14, padding: '20px 40px' }}&gt;&#10;&#10;        &lt;Box style={{ flexDirection: 'row', gap: 26, height: 461 }}&gt;&#10;&#10;            &lt;Box style={{ width: 620, background: '#F7F9FC', border: '1px solid #D6DCE5', borderRadius: 8, padding: '12px 18px', flexDirection: 'column' }}&gt;&#10;                &lt;Text style={{ fontSize: 19, fontWeight: 'bold', color: '#0E3F8C', marginBottom: 4 }}&gt;自动化工作流（VASP-MXenes 定制）&lt;/Text&gt;&#10;&#10;                &lt;Box style={{ flexDirection: 'row', alignItems: 'center', gap: 14, background: '#FFFFFF', border: '1px solid #D6DCE5', borderRadius: 6, padding: '6px 12px' }}&gt;&#10;                    &lt;Box style={{ width: 34, height: 34, background: '#1E4FA8', borderRadius: 5, justifyContent: 'center', alignItems: 'center' }}&gt;&#10;                        &lt;Text style={{ fontSize: 14, fontWeight: 'bold', color: '#FFFFFF' }}&gt;1&lt;/Text&gt;&#10;                    &lt;/Box&gt;&#10;                    &lt;Box style={{ flexDirection: 'column' }}&gt;&#10;                        &lt;Text style={{ fontSize: 15, fontWeight: 'bold', color: '#1A2230' }}&gt;alloy_config&lt;/Text&gt;&#10;                        &lt;Text style={{ fontSize: 12, color: '#4A5568' }}&gt;成分 · 超胞 · 端基配置&lt;/Text&gt;&#10;                    &lt;/Box&gt;&#10;                &lt;/Box&gt;&#10;                &lt;Box style={{ height: 11, width: 34, marginLeft: 28, justifyContent: 'center', alignItems: 'center' }}&gt;&#10;                    &lt;FAIcon name='arrow-down' style={{ fill: '#8B97A8', width: 12, height: 12 }} /&gt;&#10;                &lt;/Box&gt;&#10;&#10;                &lt;Box style={{ flexDirection: 'row', alignItems: 'center', gap: 14, background: '#FFFFFF', border: '1px solid #D6DCE5', borderRadius: 6, padding: '6px 12px' }}&gt;&#10;                    &lt;Box style={{ width: 34, height: 34, background: '#1E4FA8', borderRadius: 5, justifyContent: 'center', alignItems: 'center' }}&gt;&#10;                        &lt;Text style={{ fontSize: 14, fontWeight: 'bold', color: '#FFFFFF' }}&gt;2&lt;/Text&gt;&#10;                    &lt;/Box&gt;&#10;                    &lt;Box style={{ flexDirection: 'column' }}&gt;&#10;                        &lt;Text style={{ fontSize: 15, fontWeight: 'bold', color: '#1A2230' }}&gt;alloy.py 结构生成&lt;/Text&gt;&#10;                        &lt;Text style={{ fontSize: 12, color: '#4A5568' }}&gt;POTCAR：Ti_pv · V_pv · C · O&lt;/Text&gt;&#10;                    &lt;/Box&gt;&#10;                &lt;/Box&gt;&#10;                &lt;Box style={{ height: 11, width: 34, marginLeft: 28, justifyContent: 'center', alignItems: 'center' }}&gt;&#10;                    &lt;FAIcon name='arrow-down' style={{ fill: '#8B97A8', width: 12, height: 12 }} /&gt;&#10;                &lt;/Box&gt;&#10;&#10;                &lt;Box style={{ flexDirection: 'row', alignItems: 'center', gap: 14, background: '#E8EFF8', border: '1.5px solid #1E4FA8', borderRadius: 6, padding: '6px 12px' }}&gt;&#10;                    &lt;Box style={{ width: 34, height: 34, background: '#0E3F8C', borderRadius: 5, justifyContent: 'center', alignItems: 'center' }}&gt;&#10;                        &lt;Text style={{ fontSize: 14, fontWeight: 'bold', color: '#FFFFFF' }}&gt;3&lt;/Text&gt;&#10;                    &lt;/Box&gt;&#10;                    &lt;Box style={{ flexDirection: 'column', flex: 1 }}&gt;&#10;                        &lt;Text style={{ fontSize: 16, fontWeight: 'bold', color: '#0E3F8C' }}&gt;opt 离子弛豫 · 4 成分点 × MPI-5&lt;/Text&gt;&#10;                        &lt;Text style={{ fontSize: 12, color: '#4A5568' }}&gt;OSZICAR / OUTCAR 实时监控&lt;/Text&gt;&#10;                    &lt;/Box&gt;&#10;                    &lt;Box style={{ background: '#1E4FA8', borderRadius: 9, padding: '3px 10px' }}&gt;&#10;                        &lt;Text style={{ fontSize: 12, color: '#FFFFFF' }}&gt;运行中&lt;/Text&gt;&#10;                    &lt;/Box&gt;&#10;                &lt;/Box&gt;&#10;                &lt;Box style={{ height: 11, width: 34, marginLeft: 28, justifyContent: 'center', alignItems: 'center' }}&gt;&#10;                    &lt;FAIcon name='arrow-down' style={{ fill: '#8B97A8', width: 12, height: 12 }} /&gt;&#10;                &lt;/Box&gt;&#10;&#10;                &lt;Box style={{ flexDirection: 'row', alignItems: 'center', gap: 14, background: '#FFFFFF', border: '1px dashed #8B97A8', borderRadius: 6, padding: '6px 12px' }}&gt;&#10;                    &lt;Box style={{ width: 34, height: 34, background: '#8B97A8', borderRadius: 5, justifyContent: 'center', alignItems: 'center' }}&gt;&#10;                        &lt;Text style={{ fontSize: 14, fontWeight: 'bold', color: '#FFFFFF' }}&gt;4&lt;/Text&gt;&#10;                    &lt;/Box&gt;&#10;                    &lt;Box style={{ flexDirection: 'column', flex: 1 }}&gt;&#10;                        &lt;Text style={{ fontSize: 16, fontWeight: 'bold', color: '#4A5568' }}&gt;DOS 电子结构&lt;/Text&gt;&#10;                        &lt;Text style={{ fontSize: 12, color: '#8B97A8' }}&gt;CONTCAR → 态密度 · d 带中心&lt;/Text&gt;&#10;                    &lt;/Box&gt;&#10;                    &lt;Box style={{ background: '#F0F5FC', border: '1px solid #D6DCE5', borderRadius: 9, padding: '3px 10px' }}&gt;&#10;                        &lt;Text style={{ fontSize: 12, color: '#4A5568' }}&gt;待执行&lt;/Text&gt;&#10;                    &lt;/Box&gt;&#10;                &lt;/Box&gt;&#10;                &lt;Box style={{ height: 11, width: 34, marginLeft: 28, justifyContent: 'center', alignItems: 'center' }}&gt;&#10;                    &lt;FAIcon name='arrow-down' style={{ fill: '#8B97A8', width: 12, height: 12 }} /&gt;&#10;                &lt;/Box&gt;&#10;&#10;                &lt;Box style={{ flexDirection: 'row', alignItems: 'center', gap: 14, background: '#FFFFFF', border: '1px dashed #8B97A8', borderRadius: 6, padding: '6px 12px' }}&gt;&#10;                    &lt;Box style={{ width: 34, height: 34, background: '#8B97A8', borderRadius: 5, justifyContent: 'center', alignItems: 'center' }}&gt;&#10;                        &lt;Text style={{ fontSize: 14, fontWeight: 'bold', color: '#FFFFFF' }}&gt;5&lt;/Text&gt;&#10;                    &lt;/Box&gt;&#10;                    &lt;Box style={{ flexDirection: 'column', flex: 1 }}&gt;&#10;                        &lt;Text style={{ fontSize: 16, fontWeight: 'bold', color: '#4A5568' }}&gt;run_alloy.py --analyze&lt;/Text&gt;&#10;                        &lt;Text style={{ fontSize: 12, color: '#8B97A8' }}&gt;形成能 · 成分趋势汇总&lt;/Text&gt;&#10;                    &lt;/Box&gt;&#10;                    &lt;Box style={{ background: '#F0F5FC', border: '1px solid #D6DCE5', borderRadius: 9, padding: '3px 10px' }}&gt;&#10;                        &lt;Text style={{ fontSize: 12, color: '#4A5568' }}&gt;待执行&lt;/Text&gt;&#10;                    &lt;/Box&gt;&#10;                &lt;/Box&gt;&#10;&#10;            &lt;/Box&gt;&#10;&#10;            &lt;Box style={{ flex: 1, background: '#F7F9FC', border: '1px solid #D6DCE5', borderRadius: 8, padding: '12px 18px', flexDirection: 'column', gap: 10 }}&gt;&#10;                &lt;Text style={{ fontSize: 19, fontWeight: 'bold', color: '#0E3F8C' }}&gt;平台环境&lt;/Text&gt;&#10;&#10;                &lt;Box style={{ flex: 1, background: '#FFFFFF', border: '1px solid #D6DCE5', borderRadius: 6, padding: '10px 14px', flexDirection: 'column', gap: 4 }}&gt;&#10;                    &lt;Box style={{ flexDirection: 'row', alignItems: 'center', gap: 10 }}&gt;&#10;                        &lt;FAIcon name='server' style={{ fill: '#1E4FA8', width: 22, height: 22 }} /&gt;&#10;                        &lt;Text style={{ fontSize: 15, fontWeight: 'bold', color: '#1A2230' }}&gt;软件栈&lt;/Text&gt;&#10;                    &lt;/Box&gt;&#10;                    &lt;Text style={{ fontSize: 14, color: '#4A5568', lineHeight: 1.55 }}&gt;VASP 6.4.2（vasp_std）&lt;br /&gt;OpenMPI 5.0.10 + PMIx 5.0.1&lt;br /&gt;Python 3 独立虚拟环境&lt;/Text&gt;&#10;                &lt;/Box&gt;&#10;&#10;                &lt;Box style={{ flex: 1, background: '#FFFFFF', border: '1px solid #D6DCE5', borderRadius: 6, padding: '10px 14px', flexDirection: 'column', gap: 4 }}&gt;&#10;                    &lt;Box style={{ flexDirection: 'row', alignItems: 'center', gap: 10 }}&gt;&#10;                        &lt;FAIcon name='microchip' style={{ fill: '#1E4FA8', width: 22, height: 22 }} /&gt;&#10;                        &lt;Text style={{ fontSize: 15, fontWeight: 'bold', color: '#1A2230' }}&gt;硬件&lt;/Text&gt;&#10;                    &lt;/Box&gt;&#10;                    &lt;Text style={{ fontSize: 14, color: '#4A5568', lineHeight: 1.55 }}&gt;Xeon E5-2630v4 × 2&lt;br /&gt;20 物理核 / 40 线程 · 46 GB 内存&lt;br /&gt;MPI 按物理核布局&lt;/Text&gt;&#10;                &lt;/Box&gt;&#10;&#10;                &lt;Box style={{ flex: 1, background: '#FFFFFF', border: '1px solid #D6DCE5', borderRadius: 6, padding: '10px 14px', flexDirection: 'column', gap: 4 }}&gt;&#10;                    &lt;Box style={{ flexDirection: 'row', alignItems: 'center', gap: 10 }}&gt;&#10;                        &lt;FAIcon name='code-branch' style={{ fill: '#1E4FA8', width: 22, height: 22 }} /&gt;&#10;                        &lt;Text style={{ fontSize: 15, fontWeight: 'bold', color: '#1A2230' }}&gt;代码仓库&lt;/Text&gt;&#10;                    &lt;/Box&gt;&#10;                    &lt;Text style={{ fontSize: 14, color: '#4A5568', lineHeight: 1.55 }}&gt;fork AshValkan/VASP-MXenes&lt;br /&gt;分支 alloy-mxene-tiv&lt;br /&gt;自测 68/68 全部通过&lt;/Text&gt;&#10;                &lt;/Box&gt;&#10;            &lt;/Box&gt;&#10;&#10;        &lt;/Box&gt;&#10;&#10;        &lt;Box style={{ height: 74, background: '#0E3F8C', borderRadius: 8, flexDirection: 'row', alignItems: 'center', gap: 14, padding: '0 24px' }}&gt;&#10;            &lt;FAIcon name='check-circle' style={{ fill: '#FFC107', width: 24, height: 24 }} /&gt;&#10;            &lt;Text style={{ fontSize: 16, color: '#FFFFFF', lineHeight: 1.6 }}&gt;&#10;                工作流全链路本地化并通过全部自测，成分扫描任务可复现、可扩展——新增成分点仅需增加配置项&#10;            &lt;/Text&gt;&#10;        &lt;/Box&gt;&#10;&#10;    &lt;/Box&gt;&#10;&#10;    &lt;Box style={{ height: 59, background: '#F7F9FC', flexDirection: 'row', alignItems: 'center', justifyContent: 'space-between', padding: '0 40px' }}&gt;&#10;        &lt;Text style={{ fontSize: 13, color: '#8B97A8' }}&gt;V 合金化 Ti₃C₂ MXene · DFT 计算进展汇报&lt;/Text&gt;&#10;        &lt;Text style={{ fontSize: 14, fontWeight: 'bold', color: '#1E4FA8' }}&gt;05 / 0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2724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计算平台与自动化工作流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0448925" y="257175"/>
            <a:ext cx="1362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A9C4EC"/>
                </a:solidFill>
                <a:latin typeface="Microsoft YaHei"/>
                <a:ea typeface="Microsoft YaHei"/>
              </a:rPr>
              <a:t>02 · </a:t>
            </a:r>
            <a:r>
              <a:rPr lang="zh-CN" sz="1125" spc="150">
                <a:solidFill>
                  <a:srgbClr val="A9C4EC"/>
                </a:solidFill>
                <a:latin typeface="Microsoft YaHei"/>
                <a:ea typeface="Microsoft YaHei"/>
              </a:rPr>
              <a:t>平台与工作流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381000" y="876300"/>
            <a:ext cx="5905500" cy="4391025"/>
          </a:xfrm>
          <a:prstGeom prst="roundRect">
            <a:avLst>
              <a:gd name="adj" fmla="val 173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52450" y="990600"/>
            <a:ext cx="5562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自动化工作流（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VASP-MXenes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定制）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552450" y="1247775"/>
            <a:ext cx="556260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666750" y="1304925"/>
            <a:ext cx="323850" cy="323850"/>
          </a:xfrm>
          <a:prstGeom prst="roundRect">
            <a:avLst>
              <a:gd name="adj" fmla="val 1470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90575" y="13906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23950" y="131445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alloy_config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123950" y="1485900"/>
            <a:ext cx="1104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成分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超胞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端基配置</a:t>
            </a:r>
            <a:endParaRPr/>
          </a:p>
        </p:txBody>
      </p:sp>
      <p:pic>
        <p:nvPicPr>
          <p:cNvPr id="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3925" y="1685925"/>
            <a:ext cx="114300" cy="114300"/>
          </a:xfrm>
          <a:prstGeom prst="rect">
            <a:avLst/>
          </a:prstGeom>
          <a:ln/>
        </p:spPr>
      </p:pic>
      <p:sp>
        <p:nvSpPr>
          <p:cNvPr id="97" name=""/>
          <p:cNvSpPr/>
          <p:nvPr/>
        </p:nvSpPr>
        <p:spPr>
          <a:xfrm rot="0" flipH="0" flipV="0">
            <a:off x="552450" y="1790700"/>
            <a:ext cx="556260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666750" y="1847850"/>
            <a:ext cx="323850" cy="323850"/>
          </a:xfrm>
          <a:prstGeom prst="roundRect">
            <a:avLst>
              <a:gd name="adj" fmla="val 1470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90575" y="19335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23950" y="1857375"/>
            <a:ext cx="1562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alloy.py </a:t>
            </a: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结构生成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23950" y="2028825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POTCAR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Ti_pv · V_pv · C · O</a:t>
            </a:r>
            <a:endParaRPr/>
          </a:p>
        </p:txBody>
      </p:sp>
      <p:pic>
        <p:nvPicPr>
          <p:cNvPr id="1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3925" y="2228850"/>
            <a:ext cx="114300" cy="114300"/>
          </a:xfrm>
          <a:prstGeom prst="rect">
            <a:avLst/>
          </a:prstGeom>
          <a:ln/>
        </p:spPr>
      </p:pic>
      <p:sp>
        <p:nvSpPr>
          <p:cNvPr id="103" name=""/>
          <p:cNvSpPr/>
          <p:nvPr/>
        </p:nvSpPr>
        <p:spPr>
          <a:xfrm rot="0" flipH="0" flipV="0">
            <a:off x="552450" y="2333625"/>
            <a:ext cx="5562600" cy="447675"/>
          </a:xfrm>
          <a:prstGeom prst="roundRect">
            <a:avLst>
              <a:gd name="adj" fmla="val 12766"/>
            </a:avLst>
          </a:prstGeom>
          <a:solidFill>
            <a:srgbClr val="E8EFF8"/>
          </a:solidFill>
          <a:ln w="1905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666750" y="2400300"/>
            <a:ext cx="323850" cy="323850"/>
          </a:xfrm>
          <a:prstGeom prst="roundRect">
            <a:avLst>
              <a:gd name="adj" fmla="val 1470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90575" y="24860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23950" y="2390775"/>
            <a:ext cx="4210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opt 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离子弛豫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 · 4 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成分点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 × MPI-5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23950" y="2581275"/>
            <a:ext cx="421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4A5568"/>
                </a:solidFill>
                <a:latin typeface="Microsoft YaHei"/>
                <a:ea typeface="Microsoft YaHei"/>
              </a:rPr>
              <a:t>OSZICAR / OUTCAR </a:t>
            </a: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实时监控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5467350" y="2457450"/>
            <a:ext cx="533400" cy="200025"/>
          </a:xfrm>
          <a:prstGeom prst="roundRect">
            <a:avLst>
              <a:gd name="adj" fmla="val 4285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562600" y="24860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运行中</a:t>
            </a:r>
            <a:endParaRPr/>
          </a:p>
        </p:txBody>
      </p:sp>
      <p:pic>
        <p:nvPicPr>
          <p:cNvPr id="1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3925" y="2781300"/>
            <a:ext cx="114300" cy="114300"/>
          </a:xfrm>
          <a:prstGeom prst="rect">
            <a:avLst/>
          </a:prstGeom>
          <a:ln/>
        </p:spPr>
      </p:pic>
      <p:sp>
        <p:nvSpPr>
          <p:cNvPr id="111" name=""/>
          <p:cNvSpPr/>
          <p:nvPr/>
        </p:nvSpPr>
        <p:spPr>
          <a:xfrm rot="0" flipH="0" flipV="0">
            <a:off x="552450" y="2886075"/>
            <a:ext cx="5562600" cy="44767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8B97A8"/>
            </a:solidFill>
            <a:prstDash val="dash"/>
          </a:ln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666750" y="2952750"/>
            <a:ext cx="323850" cy="323850"/>
          </a:xfrm>
          <a:prstGeom prst="roundRect">
            <a:avLst>
              <a:gd name="adj" fmla="val 14706"/>
            </a:avLst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90575" y="303847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23950" y="2943225"/>
            <a:ext cx="4210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4A5568"/>
                </a:solidFill>
                <a:latin typeface="Microsoft YaHei"/>
                <a:ea typeface="Microsoft YaHei"/>
              </a:rPr>
              <a:t>DOS </a:t>
            </a:r>
            <a:r>
              <a:rPr lang="zh-CN" sz="1200" b="1">
                <a:solidFill>
                  <a:srgbClr val="4A5568"/>
                </a:solidFill>
                <a:latin typeface="Microsoft YaHei"/>
                <a:ea typeface="Microsoft YaHei"/>
              </a:rPr>
              <a:t>电子结构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23950" y="3133725"/>
            <a:ext cx="421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CONTCAR →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态密度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· d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带中心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5467350" y="3009900"/>
            <a:ext cx="533400" cy="200025"/>
          </a:xfrm>
          <a:prstGeom prst="roundRect">
            <a:avLst>
              <a:gd name="adj" fmla="val 42857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562600" y="303847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待执行</a:t>
            </a:r>
            <a:endParaRPr/>
          </a:p>
        </p:txBody>
      </p:sp>
      <p:pic>
        <p:nvPicPr>
          <p:cNvPr id="1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3925" y="3333750"/>
            <a:ext cx="114300" cy="114300"/>
          </a:xfrm>
          <a:prstGeom prst="rect">
            <a:avLst/>
          </a:prstGeom>
          <a:ln/>
        </p:spPr>
      </p:pic>
      <p:sp>
        <p:nvSpPr>
          <p:cNvPr id="119" name=""/>
          <p:cNvSpPr/>
          <p:nvPr/>
        </p:nvSpPr>
        <p:spPr>
          <a:xfrm rot="0" flipH="0" flipV="0">
            <a:off x="552450" y="3438525"/>
            <a:ext cx="5562600" cy="447675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8B97A8"/>
            </a:solidFill>
            <a:prstDash val="dash"/>
          </a:ln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666750" y="3505200"/>
            <a:ext cx="323850" cy="323850"/>
          </a:xfrm>
          <a:prstGeom prst="roundRect">
            <a:avLst>
              <a:gd name="adj" fmla="val 14706"/>
            </a:avLst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90575" y="35909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23950" y="3495675"/>
            <a:ext cx="4210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4A5568"/>
                </a:solidFill>
                <a:latin typeface="Microsoft YaHei"/>
                <a:ea typeface="Microsoft YaHei"/>
              </a:rPr>
              <a:t>run_alloy.py --analyze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23950" y="3686175"/>
            <a:ext cx="421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形成能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成分趋势汇总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5467350" y="3562350"/>
            <a:ext cx="533400" cy="200025"/>
          </a:xfrm>
          <a:prstGeom prst="roundRect">
            <a:avLst>
              <a:gd name="adj" fmla="val 42857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5562600" y="35909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A5568"/>
                </a:solidFill>
                <a:latin typeface="Microsoft YaHei"/>
                <a:ea typeface="Microsoft YaHei"/>
              </a:rPr>
              <a:t>待执行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6534150" y="876300"/>
            <a:ext cx="5276850" cy="4391025"/>
          </a:xfrm>
          <a:prstGeom prst="roundRect">
            <a:avLst>
              <a:gd name="adj" fmla="val 173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705600" y="990600"/>
            <a:ext cx="4933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平台环境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705600" y="1304925"/>
            <a:ext cx="493395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38950" y="1400175"/>
            <a:ext cx="209550" cy="209550"/>
          </a:xfrm>
          <a:prstGeom prst="rect">
            <a:avLst/>
          </a:prstGeom>
          <a:ln/>
        </p:spPr>
      </p:pic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143750" y="14192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软件栈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838950" y="1647825"/>
            <a:ext cx="4667250" cy="7524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VASP 6.4.2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vasp_std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OpenMPI 5.0.10 + PMIx 5.0.1</a:t>
            </a:r>
            <a:endParaRPr/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Python 3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独立虚拟环境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705600" y="2619375"/>
            <a:ext cx="493395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38950" y="2714625"/>
            <a:ext cx="209550" cy="209550"/>
          </a:xfrm>
          <a:prstGeom prst="rect">
            <a:avLst/>
          </a:prstGeom>
          <a:ln/>
        </p:spPr>
      </p:pic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7143750" y="27336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硬件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838950" y="2962275"/>
            <a:ext cx="4667250" cy="7524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Xeon E5-2630v4 × 2</a:t>
            </a:r>
            <a:endParaRPr/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20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物理核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/ 40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线程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· 46 GB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内存</a:t>
            </a:r>
            <a:endParaRPr/>
          </a:p>
          <a:p>
            <a:pPr>
              <a:lnSpc>
                <a:spcPct val="15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MPI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按物理核布局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705600" y="3933825"/>
            <a:ext cx="493395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838950" y="4029075"/>
            <a:ext cx="209550" cy="209550"/>
          </a:xfrm>
          <a:prstGeom prst="rect">
            <a:avLst/>
          </a:prstGeom>
          <a:ln/>
        </p:spPr>
      </p:pic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143750" y="40481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代码仓库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838950" y="4276725"/>
            <a:ext cx="4667250" cy="7524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fork AshValkan/VASP-MXenes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分支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alloy-mxene-tiv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自测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68/68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全部通过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381000" y="5400675"/>
            <a:ext cx="11430000" cy="704850"/>
          </a:xfrm>
          <a:prstGeom prst="roundRect">
            <a:avLst>
              <a:gd name="adj" fmla="val 10811"/>
            </a:avLst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09600" y="5638800"/>
            <a:ext cx="228600" cy="228600"/>
          </a:xfrm>
          <a:prstGeom prst="rect">
            <a:avLst/>
          </a:prstGeom>
          <a:ln/>
        </p:spPr>
      </p:pic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71550" y="5610225"/>
            <a:ext cx="6734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工作流全链路本地化并通过全部自测，成分扫描任务可复现、可扩展——新增成分点仅需增加配置项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0" y="6296025"/>
            <a:ext cx="12192000" cy="5619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81000" y="6505575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V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合金化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Ti₃C₂ MXene · DFT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计算进展汇报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1334750" y="64960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09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46" name="" descr="&lt;Slide style={{ width: '1280px', height: '720px', background: '#FFFFFF', display: 'flex', flexDirection: 'column', padding: 0 }}&gt;&#13;&#10;&#13;&#10;    &lt;Box style={{ height: 72, background: '#0E3F8C', flexDirection: 'row', alignItems: 'center', justifyContent: 'space-between', padding: '0 40px' }}&gt;&#13;&#10;        &lt;Text style={{ fontSize: 26, fontWeight: 'bold', color: '#FFFFFF' }}&gt;关键问题诊断与解决方案&lt;/Text&gt;&#13;&#10;        &lt;Text style={{ fontSize: 15, color: '#A9C4EC', letterSpacing: 2 }}&gt;02 · 问题攻坚&lt;/Text&gt;&#13;&#10;    &lt;/Box&gt;&#13;&#10;&#13;&#10;    &lt;Box style={{ flex: 1, flexDirection: 'column', gap: 16, padding: '20px 40px' }}&gt;&#13;&#10;&#13;&#10;        &lt;Box style={{ flex: 1, flexDirection: 'row', gap: 24, background: '#F7F9FC', border: '1px solid #D6DCE5', borderRadius: 8, padding: '18px 24px' }}&gt;&#13;&#10;            &lt;Box style={{ flex: 1, flexDirection: 'column', gap: 8, justifyContent: 'center' }}&gt;&#13;&#10;                &lt;Box style={{ flexDirection: 'row', alignItems: 'center', gap: 10 }}&gt;&#13;&#10;                    &lt;Box style={{ width: 30, height: 30, background: '#E0573B', borderRadius: 6, justifyContent: 'center', alignItems: 'center' }}&gt;&#13;&#10;                        &lt;Text style={{ fontSize: 15, fontWeight: 'bold', color: '#FFFFFF' }}&gt;1&lt;/Text&gt;&#13;&#10;                    &lt;/Box&gt;&#13;&#10;                    &lt;Text style={{ fontSize: 19, fontWeight: 'bold', color: '#1A2230' }}&gt;SCF 振荡发散&lt;/Text&gt;&#13;&#10;                &lt;/Box&gt;&#13;&#10;                &lt;Text style={{ fontSize: 15, color: '#4A5568', lineHeight: 1.7 }}&gt;&#13;&#10;                    y=1.0 案例长期不收敛：&lt;span style={{ fontWeight: 'bold', color: '#0E3F8C' }}&gt;ALGO=All&lt;/span&gt; 发散、&lt;span style={{ fontWeight: 'bold', color: '#0E3F8C' }}&gt;ALGO=Fast&lt;/span&gt; 卡在 5–6 eV。&lt;br /&gt;根因：电荷密度大幅振荡。&lt;br /&gt;处置：线性混合稳幅 &lt;span style={{ fontWeight: 'bold', color: '#0E3F8C' }}&gt;AMIX=0.2 / BMIX=0.0001&lt;/span&gt; + SIGMA 提速重跑。&#13;&#10;                &lt;/Text&gt;&#13;&#10;            &lt;/Box&gt;&#13;&#10;            &lt;Box style={{ width: 440, justifyContent: 'center' }}&gt;&#13;&#10;                &lt;CodeBlock&#13;&#10;                    code={`ALGO   = Normal&#13;&#10;AMIX   = 0.2&#13;&#10;BMIX   = 0.0001&#13;&#10;SIGMA  = 0.10`}&#13;&#10;                    language='bash'&#13;&#10;                    width={440}&#13;&#10;                    fontSize={14}&#13;&#10;                /&gt;&#13;&#10;            &lt;/Box&gt;&#13;&#10;        &lt;/Box&gt;&#13;&#10;&#13;&#10;        &lt;Box style={{ flex: 1, flexDirection: 'row', gap: 24, background: '#F7F9FC', border: '1px solid #D6DCE5', borderRadius: 8, padding: '18px 24px' }}&gt;&#13;&#10;            &lt;Box style={{ flex: 1, flexDirection: 'column', gap: 8, justifyContent: 'center' }}&gt;&#13;&#10;                &lt;Box style={{ flexDirection: 'row', alignItems: 'center', gap: 10 }}&gt;&#13;&#10;                    &lt;Box style={{ width: 30, height: 30, background: '#E0573B', borderRadius: 6, justifyContent: 'center', alignItems: 'center' }}&gt;&#13;&#10;                        &lt;Text style={{ fontSize: 15, fontWeight: 'bold', color: '#FFFFFF' }}&gt;2&lt;/Text&gt;&#13;&#10;                    &lt;/Box&gt;&#13;&#10;                    &lt;Text style={{ fontSize: 19, fontWeight: 'bold', color: '#1A2230' }}&gt;MPI 集群全挂（网络劫持）&lt;/Text&gt;&#13;&#10;                &lt;/Box&gt;&#13;&#10;                &lt;Text style={{ fontSize: 15, color: '#4A5568', lineHeight: 1.7 }}&gt;&#13;&#10;                    策略路由将 &lt;span style={{ fontWeight: 'bold', color: '#0E3F8C' }}&gt;127.0.0.1&lt;/span&gt; 劫持至失效 WSL2 中继，所有本机 TCP / MPI 静默丢弃。&lt;br /&gt;根因：&lt;span style={{ fontWeight: 'bold', color: '#0E3F8C' }}&gt;ip rule priority 1 ipproto tcp lookup 127&lt;/span&gt;。&lt;br /&gt;处置：删除规则 + &lt;span style={{ fontWeight: 'bold', color: '#0E3F8C' }}&gt;@reboot cron&lt;/span&gt; 自愈。&#13;&#10;                &lt;/Text&gt;&#13;&#10;            &lt;/Box&gt;&#13;&#10;            &lt;Box style={{ width: 440, justifyContent: 'center' }}&gt;&#13;&#10;                &lt;CodeBlock&#13;&#10;                    code={`sudo ip rule del priority 1 \\&#13;&#10;  ipproto tcp lookup 127&#13;&#10;# /etc/cron.d/recover-loopback&#13;&#10;@reboot root ip rule del ...`}&#13;&#10;                    language='bash'&#13;&#10;                    width={440}&#13;&#10;                    fontSize={14}&#13;&#10;                /&gt;&#13;&#10;            &lt;/Box&gt;&#13;&#10;        &lt;/Box&gt;&#13;&#10;&#13;&#10;    &lt;/Box&gt;&#13;&#10;&#13;&#10;    &lt;Box style={{ height: 59, background: '#F7F9FC', flexDirection: 'row', alignItems: 'center', justifyContent: 'space-between', padding: '0 40px' }}&gt;&#13;&#10;        &lt;Text style={{ fontSize: 13, color: '#8B97A8' }}&gt;V 合金化 Ti₃C₂ MXene · DFT 计算进展汇报&lt;/Text&gt;&#13;&#10;        &lt;Text style={{ fontSize: 14, fontWeight: 'bold', color: '#1E4FA8' }}&gt;06 / 09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2724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关键问题诊断与解决方案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0772775" y="257175"/>
            <a:ext cx="1038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A9C4EC"/>
                </a:solidFill>
                <a:latin typeface="Microsoft YaHei"/>
                <a:ea typeface="Microsoft YaHei"/>
              </a:rPr>
              <a:t>02 · </a:t>
            </a:r>
            <a:r>
              <a:rPr lang="zh-CN" sz="1125" spc="150">
                <a:solidFill>
                  <a:srgbClr val="A9C4EC"/>
                </a:solidFill>
                <a:latin typeface="Microsoft YaHei"/>
                <a:ea typeface="Microsoft YaHei"/>
              </a:rPr>
              <a:t>问题攻坚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381000" y="876300"/>
            <a:ext cx="11430000" cy="2543175"/>
          </a:xfrm>
          <a:prstGeom prst="roundRect">
            <a:avLst>
              <a:gd name="adj" fmla="val 299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2" name=""/>
          <p:cNvSpPr/>
          <p:nvPr/>
        </p:nvSpPr>
        <p:spPr>
          <a:xfrm rot="0" flipH="0" flipV="0">
            <a:off x="609600" y="153352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0573B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04850" y="159067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990600" y="1571625"/>
            <a:ext cx="1114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SCF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振荡发散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09600" y="1895475"/>
            <a:ext cx="6553200" cy="8763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y=1.0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案例长期不收敛：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ALGO=All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发散、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ALGO=Fast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卡在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5–6 eV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根因：电荷密度大幅振荡。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处置：线性混合稳幅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AMIX=0.2 / BMIX=0.0001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+ SIGMA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提速重跑。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381000" y="3571875"/>
            <a:ext cx="11430000" cy="2533650"/>
          </a:xfrm>
          <a:prstGeom prst="roundRect">
            <a:avLst>
              <a:gd name="adj" fmla="val 300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609600" y="4219575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0573B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04850" y="4276725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990600" y="4257675"/>
            <a:ext cx="2238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MPI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集群全挂（网络劫持）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09600" y="4581525"/>
            <a:ext cx="6553200" cy="8763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策略路由将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127.0.0.1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劫持至失效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WSL2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中继，所有本机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TCP / MPI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静默丢弃。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根因：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ip rule priority 1 ipproto tcp lookup 127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处置：删除规则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@reboot cron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自愈。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0" y="6296025"/>
            <a:ext cx="12192000" cy="5619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381000" y="6505575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V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合金化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Ti₃C₂ MXene · DFT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计算进展汇报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334750" y="64960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09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7391400" y="1562100"/>
            <a:ext cx="4191000" cy="1171575"/>
          </a:xfrm>
          <a:prstGeom prst="roundRect">
            <a:avLst>
              <a:gd name="adj" fmla="val 6504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165" name=""/>
          <p:cNvSpPr txBox="1"/>
          <p:nvPr/>
        </p:nvSpPr>
        <p:spPr>
          <a:xfrm rot="0" flipH="0" flipV="0">
            <a:off x="7543800" y="1695450"/>
            <a:ext cx="38862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ALGO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Normal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AMIX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0.2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BMIX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0.0001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SIGMA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0.10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7391400" y="4257675"/>
            <a:ext cx="4191000" cy="1171575"/>
          </a:xfrm>
          <a:prstGeom prst="roundRect">
            <a:avLst>
              <a:gd name="adj" fmla="val 6504"/>
            </a:avLst>
          </a:prstGeom>
          <a:solidFill>
            <a:srgbClr val="F6F8FA"/>
          </a:solidFill>
          <a:ln/>
        </p:spPr>
        <p:txBody>
          <a:bodyPr/>
          <a:p/>
        </p:txBody>
      </p:sp>
      <p:sp>
        <p:nvSpPr>
          <p:cNvPr id="167" name=""/>
          <p:cNvSpPr txBox="1"/>
          <p:nvPr/>
        </p:nvSpPr>
        <p:spPr>
          <a:xfrm rot="0" flipH="0" flipV="0">
            <a:off x="7543800" y="4391025"/>
            <a:ext cx="38862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sudo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ip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rule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del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priority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\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ipproto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tcp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lookup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127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/etc/cron.d/recover-loopback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@reboot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root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ip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rule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del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...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68" name="" descr="&lt;Slide style={{ width: '1280px', height: '720px', background: '#FFFFFF', display: 'flex', flexDirection: 'column', padding: 0 }}&gt;&#10;&#10;    &lt;Box style={{ height: 72, background: '#0E3F8C', flexDirection: 'row', alignItems: 'center', justifyContent: 'space-between', padding: '0 40px' }}&gt;&#10;        &lt;Text style={{ fontSize: 26, fontWeight: 'bold', color: '#FFFFFF' }}&gt;当前计算状态与核心结果&lt;/Text&gt;&#10;        &lt;Text style={{ fontSize: 15, color: '#A9C4EC', letterSpacing: 2 }}&gt;03 · 当前进展&lt;/Text&gt;&#10;    &lt;/Box&gt;&#10;&#10;    &lt;Box style={{ flex: 1, flexDirection: 'column', gap: 16, padding: '20px 40px' }}&gt;&#10;&#10;        &lt;Box style={{ flexDirection: 'row', gap: 16 }}&gt;&#10;            &lt;Box style={{ flex: 1, background: '#0E3F8C', borderRadius: 8, padding: '16px 20px', flexDirection: 'column', gap: 6 }}&gt;&#10;                &lt;Text style={{ fontSize: 30, fontWeight: 'bold', color: '#FFFFFF' }}&gt;4 / 4 &lt;span style={{ fontSize: 16 }}&gt;弛豫收敛&lt;/span&gt;&lt;/Text&gt;&#10;                &lt;Text style={{ fontSize: 14, color: '#CFE0F5' }}&gt;EDIFFG = -0.02 eV/Å 全部达标&lt;/Text&gt;&#10;            &lt;/Box&gt;&#10;            &lt;Box style={{ flex: 1, background: '#F0F5FC', border: '1px solid #D6DCE5', borderRadius: 8, padding: '16px 20px', flexDirection: 'column', gap: 6 }}&gt;&#10;                &lt;Text style={{ fontSize: 27, fontWeight: 'bold', color: '#0E3F8C' }}&gt;4 / 4 DOS 完成&lt;/Text&gt;&#10;                &lt;Text style={{ fontSize: 14, color: '#4A5568' }}&gt;k=5×5×1，ISMEAR=-5，NEDOS=5000&lt;/Text&gt;&#10;            &lt;/Box&gt;&#10;            &lt;Box style={{ flex: 1, background: '#F0F5FC', border: '1px solid #D6DCE5', borderRadius: 8, padding: '16px 20px', flexDirection: 'column', gap: 6 }}&gt;&#10;                &lt;Text style={{ fontSize: 27, fontWeight: 'bold', color: '#0E3F8C' }}&gt;R² ≈ 0.77&lt;/Text&gt;&#10;                &lt;Text style={{ fontSize: 14, color: '#4A5568' }}&gt;ε_d(Ti)–y 线性拟合（ε_d(V)：0.75）&lt;/Text&gt;&#10;            &lt;/Box&gt;&#10;            &lt;Box style={{ flex: 1, background: '#F0F5FC', border: '1px solid #D6DCE5', borderRadius: 8, padding: '16px 20px', flexDirection: 'column', gap: 6 }}&gt;&#10;                &lt;Text style={{ fontSize: 27, fontWeight: 'bold', color: '#0E3F8C' }}&gt;N(E_F) ×18&lt;/Text&gt;&#10;                &lt;Text style={{ fontSize: 14, color: '#4A5568' }}&gt;费米面态密度 0.55 → 9.9 states&lt;/Text&gt;&#10;            &lt;/Box&gt;&#10;        &lt;/Box&gt;&#10;&#10;        &lt;Box style={{ flex: 1, flexDirection: 'column', gap: 10 }}&gt;&#10;            &lt;Text style={{ fontSize: 20, fontWeight: 'bold', color: '#0E3F8C' }}&gt;四成分点计算结果汇总（2026-09-17 分析产出）&lt;/Text&gt;&#10;            &lt;Table&#10;                style={{ width: '100%', flex: 1 }}&#10;                defaultTextStyle={{ fontSize: 16, textAlign: 'center', color: '#1A2230' }}&#10;                defaultCellStyle={{&#10;                    border: {&#10;                        left: { width: 1, color: '#D6DCE5' },&#10;                        right: { width: 1, color: '#D6DCE5' },&#10;                        top: { width: 1, color: '#D6DCE5' },&#10;                        bottom: { width: 1, color: '#D6DCE5' },&#10;                    },&#10;                }}&#10;                cells={[&#10;                    [&#10;                        { text: '成分点', textStyle: { bold: true, color: '#FFFFFF' }, cellStyle: { background: { color: '#1E4FA8' } } },&#10;                        { text: '弛豫 E0 (eV)', textStyle: { bold: true, color: '#FFFFFF' }, cellStyle: { background: { color: '#1E4FA8' } } },&#10;                        { text: '磁矩 (μB)', textStyle: { bold: true, color: '#FFFFFF' }, cellStyle: { background: { color: '#1E4FA8' } } },&#10;                        { text: 'ε_d(Ti) (eV)', textStyle: { bold: true, color: '#FFFFFF' }, cellStyle: { background: { color: '#1E4FA8' } } },&#10;                        { text: 'ε_d(V) (eV)', textStyle: { bold: true, color: '#FFFFFF' }, cellStyle: { background: { color: '#1E4FA8' } } },&#10;                        { text: 'N(E_F) (states)', textStyle: { bold: true, color: '#FFFFFF' }, cellStyle: { background: { color: '#1E4FA8' } } },&#10;                    ],&#10;                    ['Ti₃C₂O₂ (y=0)', '-236.32', '0.00', '-3.57', '—', '0.55'],&#10;                    ['Ti₂.₅V₀.₅C₂O₂ (y=0.5)', '-234.98', '0.01', '-3.60', '-3.37', '7.90'],&#10;                    ['Ti₂V₁C₂O₂ (y=1.0)', '-233.11', '2.45', '-3.49', '-3.37', '9.97'],&#10;                    ['Ti₁.₅V₁.₅C₂O₂ (y=1.5)', '-231.31', '4.42', '-3.30', '-3.15', '9.88'],&#10;                ]}&#10;            /&gt;&#10;            &lt;Text style={{ fontSize: 15, color: '#4A5568', lineHeight: 1.6 }}&gt;&#10;                物理趋势：ε_d 随 V 含量单调移向费米能级（Ti 位：-3.57 → -3.30 eV）；V 位 d 带中心始终高于 Ti 位；E0 随 y 单调抬升，每 V 磁矩递增（0 → 0.74 μB/V）——与&quot;V d 态调制表面化学亲和性&quot;的论文主线一致。&#10;            &lt;/Text&gt;&#10;        &lt;/Box&gt;&#10;&#10;    &lt;/Box&gt;&#10;&#10;    &lt;Box style={{ height: 59, background: '#F7F9FC', flexDirection: 'row', alignItems: 'center', justifyContent: 'space-between', padding: '0 40px' }}&gt;&#10;        &lt;Text style={{ fontSize: 13, color: '#8B97A8' }}&gt;V 合金化 Ti₃C₂ MXene · DFT 计算进展汇报&lt;/Text&gt;&#10;        &lt;Text style={{ fontSize: 14, fontWeight: 'bold', color: '#1E4FA8' }}&gt;07 / 0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2724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当前计算状态与核心结果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0772775" y="257175"/>
            <a:ext cx="1038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A9C4EC"/>
                </a:solidFill>
                <a:latin typeface="Microsoft YaHei"/>
                <a:ea typeface="Microsoft YaHei"/>
              </a:rPr>
              <a:t>03 · </a:t>
            </a:r>
            <a:r>
              <a:rPr lang="zh-CN" sz="1125" spc="150">
                <a:solidFill>
                  <a:srgbClr val="A9C4EC"/>
                </a:solidFill>
                <a:latin typeface="Microsoft YaHei"/>
                <a:ea typeface="Microsoft YaHei"/>
              </a:rPr>
              <a:t>当前进展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381000" y="876300"/>
            <a:ext cx="2743200" cy="1000125"/>
          </a:xfrm>
          <a:prstGeom prst="roundRect">
            <a:avLst>
              <a:gd name="adj" fmla="val 7619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71500" y="1028700"/>
            <a:ext cx="23622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4 / 4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弛豫收敛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71500" y="1428750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CFE0F5"/>
                </a:solidFill>
                <a:latin typeface="Microsoft YaHei"/>
                <a:ea typeface="Microsoft YaHei"/>
              </a:rPr>
              <a:t>EDIFFG = -0.02 eV/Å </a:t>
            </a:r>
            <a:r>
              <a:rPr lang="zh-CN" sz="1050">
                <a:solidFill>
                  <a:srgbClr val="CFE0F5"/>
                </a:solidFill>
                <a:latin typeface="Microsoft YaHei"/>
                <a:ea typeface="Microsoft YaHei"/>
              </a:rPr>
              <a:t>全部达标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3276600" y="876300"/>
            <a:ext cx="2743200" cy="1000125"/>
          </a:xfrm>
          <a:prstGeom prst="roundRect">
            <a:avLst>
              <a:gd name="adj" fmla="val 761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467100" y="1028700"/>
            <a:ext cx="23622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0E3F8C"/>
                </a:solidFill>
                <a:latin typeface="Microsoft YaHei"/>
                <a:ea typeface="Microsoft YaHei"/>
              </a:rPr>
              <a:t>4 / 4 DOS </a:t>
            </a:r>
            <a:r>
              <a:rPr lang="zh-CN" sz="2025" b="1">
                <a:solidFill>
                  <a:srgbClr val="0E3F8C"/>
                </a:solidFill>
                <a:latin typeface="Microsoft YaHei"/>
                <a:ea typeface="Microsoft YaHei"/>
              </a:rPr>
              <a:t>完成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3467100" y="1400175"/>
            <a:ext cx="2362200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k=5×5×1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ISMEAR=-5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NEDOS=5000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172200" y="876300"/>
            <a:ext cx="2743200" cy="1000125"/>
          </a:xfrm>
          <a:prstGeom prst="roundRect">
            <a:avLst>
              <a:gd name="adj" fmla="val 761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362700" y="1028700"/>
            <a:ext cx="23622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0E3F8C"/>
                </a:solidFill>
                <a:latin typeface="Microsoft YaHei"/>
                <a:ea typeface="Microsoft YaHei"/>
              </a:rPr>
              <a:t>R² ≈ 0.77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362700" y="1400175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ε_d(Ti)–y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线性拟合（ε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_d(V)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0.75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9067800" y="876300"/>
            <a:ext cx="2743200" cy="1000125"/>
          </a:xfrm>
          <a:prstGeom prst="roundRect">
            <a:avLst>
              <a:gd name="adj" fmla="val 761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9258300" y="1028700"/>
            <a:ext cx="23622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025" b="1">
                <a:solidFill>
                  <a:srgbClr val="0E3F8C"/>
                </a:solidFill>
                <a:latin typeface="Microsoft YaHei"/>
                <a:ea typeface="Microsoft YaHei"/>
              </a:rPr>
              <a:t>N(E_F) ×18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9258300" y="1400175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费米面态密度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0.55 → 9.9 states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81000" y="2028825"/>
            <a:ext cx="1143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四成分点计算结果汇总（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2026-09-17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分析产出）</a:t>
            </a:r>
            <a:endParaRPr/>
          </a:p>
        </p:txBody>
      </p:sp>
      <p:graphicFrame>
        <p:nvGraphicFramePr>
          <p:cNvPr id="186" name=""/>
          <p:cNvGraphicFramePr/>
          <p:nvPr/>
        </p:nvGraphicFramePr>
        <p:xfrm rot="0" flipH="0" flipV="0">
          <a:off x="381000" y="2352675"/>
          <a:ext cx="11430000" cy="3105150"/>
        </p:xfrm>
        <a:graphic>
          <a:graphicData uri="http://schemas.openxmlformats.org/drawingml/2006/table">
            <a:tbl>
              <a:tblGrid>
                <a:gridCol w="2728430">
                  <a:extLst>
                    <a:ext uri="{9D8B030D-6E8A-4147-A177-3AD203B41FA5}">
                      <a16:colId val="1"/>
                    </a:ext>
                  </a:extLst>
                </a:gridCol>
                <a:gridCol w="1771086">
                  <a:extLst>
                    <a:ext uri="{9D8B030D-6E8A-4147-A177-3AD203B41FA5}">
                      <a16:colId val="2"/>
                    </a:ext>
                  </a:extLst>
                </a:gridCol>
                <a:gridCol w="1377891">
                  <a:extLst>
                    <a:ext uri="{9D8B030D-6E8A-4147-A177-3AD203B41FA5}">
                      <a16:colId val="3"/>
                    </a:ext>
                  </a:extLst>
                </a:gridCol>
                <a:gridCol w="1719800">
                  <a:extLst>
                    <a:ext uri="{9D8B030D-6E8A-4147-A177-3AD203B41FA5}">
                      <a16:colId val="4"/>
                    </a:ext>
                  </a:extLst>
                </a:gridCol>
                <a:gridCol w="1668513">
                  <a:extLst>
                    <a:ext uri="{9D8B030D-6E8A-4147-A177-3AD203B41FA5}">
                      <a16:colId val="5"/>
                    </a:ext>
                  </a:extLst>
                </a:gridCol>
                <a:gridCol w="2164281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62103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成分点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弛豫 E0 (eV)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磁矩 (μB)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ε_d(Ti) (eV)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ε_d(V) (eV)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N(E_F) (states)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2103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Ti₃C₂O₂ (y=0)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-236.32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-3.57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0.55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2103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Ti₂.₅V₀.₅C₂O₂ (y=0.5)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-234.98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-3.60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-3.37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7.90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2103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Ti₂V₁C₂O₂ (y=1.0)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-233.11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2.45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-3.49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-3.37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9.97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2103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Ti₁.₅V₁.₅C₂O₂ (y=1.5)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-231.31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4.42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-3.30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-3.15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9.88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381000" y="5553075"/>
            <a:ext cx="11430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物理趋势：ε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_d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随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V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含量单调移向费米能级（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Ti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位：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-3.57 → -3.30 eV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）；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V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位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d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带中心始终高于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Ti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位；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E0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随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y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单调抬升，每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V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磁矩递增（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0 → 0.74 μB/V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）——与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"V d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态调制表面化学亲和性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的论文主线一致。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0" y="6296025"/>
            <a:ext cx="12192000" cy="5619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381000" y="6505575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V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合金化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Ti₃C₂ MXene · DFT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计算进展汇报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1334750" y="64960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07 / 09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91" name="" descr="&lt;Slide style={{ width: '1280px', height: '720px', background: '#FFFFFF', display: 'flex', flexDirection: 'column', padding: 0 }}&gt;&#10;&#10;    &lt;Box style={{ height: 72, background: '#0E3F8C', flexDirection: 'row', alignItems: 'center', justifyContent: 'space-between', padding: '0 40px' }}&gt;&#10;        &lt;Text style={{ fontSize: 26, fontWeight: 'bold', color: '#FFFFFF' }}&gt;性能提升与后续计划&lt;/Text&gt;&#10;        &lt;Text style={{ fontSize: 15, color: '#A9C4EC', letterSpacing: 2 }}&gt;03 · 后续计划&lt;/Text&gt;&#10;    &lt;/Box&gt;&#10;&#10;    &lt;Box style={{ flex: 1, flexDirection: 'row', gap: 26, padding: '22px 40px' }}&gt;&#10;&#10;        &lt;Box style={{ flex: 1.15, background: '#F7F9FC', border: '1px solid #D6DCE5', borderRadius: 8, padding: '18px 22px', flexDirection: 'column', gap: 16 }}&gt;&#10;            &lt;Text style={{ fontSize: 20, fontWeight: 'bold', color: '#0E3F8C' }}&gt;单电子步耗时对比&lt;/Text&gt;&#10;&#10;            &lt;Box style={{ flexDirection: 'row', alignItems: 'center', gap: 14 }}&gt;&#10;                &lt;Text style={{ fontSize: 15, color: '#4A5568', width: 130 }}&gt;单进程串行&lt;/Text&gt;&#10;                &lt;Box style={{ flex: 1, background: '#E4E8EF', borderRadius: 5, height: 30 }}&gt;&#10;                    &lt;Box style={{ width: '100%', height: 30, background: '#8B97A8', borderRadius: 5, justifyContent: 'center', paddingLeft: 12 }}&gt;&#10;                        &lt;Text style={{ fontSize: 14, fontWeight: 'bold', color: '#FFFFFF' }}&gt;305 s&lt;/Text&gt;&#10;                    &lt;/Box&gt;&#10;                &lt;/Box&gt;&#10;            &lt;/Box&gt;&#10;&#10;            &lt;Box style={{ flexDirection: 'row', alignItems: 'center', gap: 14 }}&gt;&#10;                &lt;Text style={{ fontSize: 15, color: '#4A5568', width: 130 }}&gt;MPI-5 并行&lt;/Text&gt;&#10;                &lt;Box style={{ flex: 1, background: '#E4E8EF', borderRadius: 5, height: 30 }}&gt;&#10;                    &lt;Box style={{ width: '22%', height: 30, background: '#1E4FA8', borderRadius: 5, justifyContent: 'center', paddingLeft: 10 }}&gt;&#10;                        &lt;Text style={{ fontSize: 14, fontWeight: 'bold', color: '#FFFFFF' }}&gt;69.5 s&lt;/Text&gt;&#10;                    &lt;/Box&gt;&#10;                &lt;/Box&gt;&#10;            &lt;/Box&gt;&#10;&#10;            &lt;Box style={{ flexDirection: 'row', alignItems: 'center', gap: 10, marginTop: 2 }}&gt;&#10;                &lt;Box style={{ background: '#FFC107', borderRadius: 6, padding: '4px 12px' }}&gt;&#10;                    &lt;Text style={{ fontSize: 15, fontWeight: 'bold', color: '#0E3F8C' }}&gt;加速 4.4×&lt;/Text&gt;&#10;                &lt;/Box&gt;&#10;                &lt;Text style={{ fontSize: 14, color: '#4A5568' }}&gt;4 任务并发下约 165 s/步（带宽共享代价）&lt;/Text&gt;&#10;            &lt;/Box&gt;&#10;&#10;            &lt;Box style={{ marginTop: 'auto', background: '#0E3F8C', borderRadius: 8, padding: '12px 16px' }}&gt;&#10;                &lt;Text style={{ fontSize: 14, color: '#FFFFFF', lineHeight: 1.6 }}&gt;&#10;                    MPI 修复使完整成分扫描由预估 2–4 周压缩至 2–4 天&#10;                &lt;/Text&gt;&#10;            &lt;/Box&gt;&#10;        &lt;/Box&gt;&#10;&#10;        &lt;Box style={{ flex: 1, flexDirection: 'column', gap: 12 }}&gt;&#10;            &lt;Text style={{ fontSize: 20, fontWeight: 'bold', color: '#0E3F8C' }}&gt;后续计算路线&lt;/Text&gt;&#10;&#10;            &lt;Box style={{ flexDirection: 'row', gap: 12, alignItems: 'flex-start' }}&gt;&#10;                &lt;Box style={{ width: 28, height: 28, borderRadius: 14, background: '#1E4FA8', justifyContent: 'center', alignItems: 'center' }}&gt;&#10;                    &lt;Text style={{ color: '#FFFFFF', fontSize: 13, fontWeight: 'bold' }}&gt;1&lt;/Text&gt;&#10;                &lt;/Box&gt;&#10;                &lt;Box style={{ flexDirection: 'column', gap: 2, paddingTop: 2 }}&gt;&#10;                    &lt;Text style={{ fontSize: 16, fontWeight: 'bold', color: '#1A2230' }}&gt;弛豫收敛&lt;/Text&gt;&#10;                    &lt;Text style={{ fontSize: 13, color: '#4A5568' }}&gt;预计 2–4 天&lt;/Text&gt;&#10;                &lt;/Box&gt;&#10;            &lt;/Box&gt;&#10;&#10;            &lt;Box style={{ flexDirection: 'row', gap: 12, alignItems: 'flex-start' }}&gt;&#10;                &lt;Box style={{ width: 28, height: 28, borderRadius: 14, background: '#1E4FA8', justifyContent: 'center', alignItems: 'center' }}&gt;&#10;                    &lt;Text style={{ color: '#FFFFFF', fontSize: 13, fontWeight: 'bold' }}&gt;2&lt;/Text&gt;&#10;                &lt;/Box&gt;&#10;                &lt;Box style={{ flexDirection: 'column', gap: 2, paddingTop: 2 }}&gt;&#10;                    &lt;Text style={{ fontSize: 16, fontWeight: 'bold', color: '#1A2230' }}&gt;DOS / d 带中心&lt;/Text&gt;&#10;                    &lt;Text style={{ fontSize: 13, color: '#4A5568' }}&gt;CONTCAR → ε_d 组分趋势&lt;/Text&gt;&#10;                &lt;/Box&gt;&#10;            &lt;/Box&gt;&#10;&#10;            &lt;Box style={{ flexDirection: 'row', gap: 12, alignItems: 'flex-start' }}&gt;&#10;                &lt;Box style={{ width: 28, height: 28, borderRadius: 14, background: '#1E4FA8', justifyContent: 'center', alignItems: 'center' }}&gt;&#10;                    &lt;Text style={{ color: '#FFFFFF', fontSize: 13, fontWeight: 'bold' }}&gt;3&lt;/Text&gt;&#10;                &lt;/Box&gt;&#10;                &lt;Box style={{ flexDirection: 'column', gap: 2, paddingTop: 2 }}&gt;&#10;                    &lt;Text style={{ fontSize: 16, fontWeight: 'bold', color: '#1A2230' }}&gt;形成能趋势&lt;/Text&gt;&#10;                    &lt;Text style={{ fontSize: 13, color: '#4A5568' }}&gt;占位偏好 · 凸包混合能&lt;/Text&gt;&#10;                &lt;/Box&gt;&#10;            &lt;/Box&gt;&#10;&#10;            &lt;Box style={{ flexDirection: 'row', gap: 12, alignItems: 'flex-start' }}&gt;&#10;                &lt;Box style={{ width: 28, height: 28, borderRadius: 14, background: '#1E4FA8', justifyContent: 'center', alignItems: 'center' }}&gt;&#10;                    &lt;Text style={{ color: '#FFFFFF', fontSize: 13, fontWeight: 'bold' }}&gt;4&lt;/Text&gt;&#10;                &lt;/Box&gt;&#10;                &lt;Box style={{ flexDirection: 'column', gap: 2, paddingTop: 2 }}&gt;&#10;                    &lt;Text style={{ fontSize: 16, fontWeight: 'bold', color: '#1A2230' }}&gt;CI-NEB 离子迁移势垒&lt;/Text&gt;&#10;                    &lt;Text style={{ fontSize: 13, color: '#4A5568' }}&gt;吸附能 + 扩散能垒&lt;/Text&gt;&#10;                &lt;/Box&gt;&#10;            &lt;/Box&gt;&#10;&#10;            &lt;Box style={{ marginTop: 'auto', background: '#0E3F8C', borderRadius: 8, padding: '12px 16px' }}&gt;&#10;                &lt;Text style={{ fontSize: 14, color: '#FFFFFF', lineHeight: 1.6 }}&gt;&#10;                    链路就绪：opt → DOS → analyze 一键产出论文图表&#10;                &lt;/Text&gt;&#10;            &lt;/Box&gt;&#10;        &lt;/Box&gt;&#10;&#10;    &lt;/Box&gt;&#10;&#10;    &lt;Box style={{ height: 59, background: '#F7F9FC', flexDirection: 'row', alignItems: 'center', justifyContent: 'space-between', padding: '0 40px' }}&gt;&#10;        &lt;Text style={{ fontSize: 13, color: '#8B97A8' }}&gt;V 合金化 Ti₃C₂ MXene · DFT 计算进展汇报&lt;/Text&gt;&#10;        &lt;Text style={{ fontSize: 14, fontWeight: 'bold', color: '#1E4FA8' }}&gt;08 / 09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381000" y="190500"/>
            <a:ext cx="2228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性能提升与后续计划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0772775" y="257175"/>
            <a:ext cx="1038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A9C4EC"/>
                </a:solidFill>
                <a:latin typeface="Microsoft YaHei"/>
                <a:ea typeface="Microsoft YaHei"/>
              </a:rPr>
              <a:t>03 · </a:t>
            </a:r>
            <a:r>
              <a:rPr lang="zh-CN" sz="1125" spc="150">
                <a:solidFill>
                  <a:srgbClr val="A9C4EC"/>
                </a:solidFill>
                <a:latin typeface="Microsoft YaHei"/>
                <a:ea typeface="Microsoft YaHei"/>
              </a:rPr>
              <a:t>后续计划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381000" y="895350"/>
            <a:ext cx="5981700" cy="5191125"/>
          </a:xfrm>
          <a:prstGeom prst="roundRect">
            <a:avLst>
              <a:gd name="adj" fmla="val 146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90550" y="1066800"/>
            <a:ext cx="5562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单电子步耗时对比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590550" y="150495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单进程串行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1962150" y="1447800"/>
            <a:ext cx="4191000" cy="285750"/>
          </a:xfrm>
          <a:prstGeom prst="roundRect">
            <a:avLst>
              <a:gd name="adj" fmla="val 16667"/>
            </a:avLst>
          </a:prstGeom>
          <a:solidFill>
            <a:srgbClr val="E4E8EF"/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1962150" y="1447800"/>
            <a:ext cx="4191000" cy="285750"/>
          </a:xfrm>
          <a:prstGeom prst="roundRect">
            <a:avLst>
              <a:gd name="adj" fmla="val 16667"/>
            </a:avLst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2076450" y="1514475"/>
            <a:ext cx="407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305 s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90550" y="19431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MPI-5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并行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1962150" y="1885950"/>
            <a:ext cx="4191000" cy="285750"/>
          </a:xfrm>
          <a:prstGeom prst="roundRect">
            <a:avLst>
              <a:gd name="adj" fmla="val 16667"/>
            </a:avLst>
          </a:prstGeom>
          <a:solidFill>
            <a:srgbClr val="E4E8EF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1962150" y="1885950"/>
            <a:ext cx="923925" cy="28575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2057400" y="1952625"/>
            <a:ext cx="828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69.5 s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590550" y="2343150"/>
            <a:ext cx="885825" cy="247650"/>
          </a:xfrm>
          <a:prstGeom prst="roundRect">
            <a:avLst>
              <a:gd name="adj" fmla="val 23077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04850" y="2381250"/>
            <a:ext cx="657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加速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 4.4×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571625" y="2390775"/>
            <a:ext cx="2552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4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任务并发下约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165 s/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步（带宽共享代价）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590550" y="5429250"/>
            <a:ext cx="5562600" cy="485775"/>
          </a:xfrm>
          <a:prstGeom prst="roundRect">
            <a:avLst>
              <a:gd name="adj" fmla="val 1568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42950" y="5543550"/>
            <a:ext cx="52578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MPI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修复使完整成分扫描由预估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 2–4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周压缩至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 2–4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610350" y="895350"/>
            <a:ext cx="5200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后续计算路线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610350" y="12382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705600" y="12954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991350" y="1257300"/>
            <a:ext cx="657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弛豫收敛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991350" y="1466850"/>
            <a:ext cx="657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预计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2–4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610350" y="17335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705600" y="17907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991350" y="175260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DOS / d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带中心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991350" y="19621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CONTCAR → ε_d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组分趋势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610350" y="22288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705600" y="22860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991350" y="22479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形成能趋势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991350" y="2457450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占位偏好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凸包混合能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610350" y="27241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705600" y="2781300"/>
            <a:ext cx="8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991350" y="2743200"/>
            <a:ext cx="1504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Microsoft YaHei"/>
                <a:ea typeface="Microsoft YaHei"/>
              </a:rPr>
              <a:t>CI-NEB </a:t>
            </a: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离子迁移势垒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991350" y="2952750"/>
            <a:ext cx="1504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吸附能</a:t>
            </a:r>
            <a:r>
              <a:rPr lang="en-US" sz="97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4A5568"/>
                </a:solidFill>
                <a:latin typeface="Microsoft YaHei"/>
                <a:ea typeface="Microsoft YaHei"/>
              </a:rPr>
              <a:t>扩散能垒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610350" y="5600700"/>
            <a:ext cx="5200650" cy="485775"/>
          </a:xfrm>
          <a:prstGeom prst="roundRect">
            <a:avLst>
              <a:gd name="adj" fmla="val 15686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762750" y="5715000"/>
            <a:ext cx="48958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链路就绪：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opt → DOS → analyze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一键产出论文图表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0" y="6296025"/>
            <a:ext cx="12192000" cy="5619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381000" y="6505575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V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合金化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Ti₃C₂ MXene · DFT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计算进展汇报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334750" y="649605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09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33" name="" descr="&lt;Slide style={{ width: '1280px', height: '720px', background: '#0E3F8C', position: 'relative', display: 'flex', flexDirection: 'column', padding: 0 }}&gt;&#10;&#10;    &lt;svg width={1280} height={300} viewBox='0 0 1280 300' style={{ position: 'absolute', bottom: 0, left: 0, opacity: 0.22 }}&gt;&#10;        {[30, 86, 142, 198, 254, 310, 366, 422, 478, 534, 590, 646, 702, 758, 814, 870, 926, 982, 1038, 1094, 1150, 1206, 1262].map((cx, i) =&gt; (&#10;            &lt;circle key={'o1' + i} cx={cx} cy={42} r={9} fill='#E8EFF8' /&gt;&#10;        ))}&#10;        {[58, 114, 170, 226, 282, 338, 394, 450, 506, 562, 618, 674, 730, 786, 842, 898, 954, 1010, 1066, 1122, 1178, 1234].map((cx, i) =&gt; (&#10;            &lt;circle key={'ti1' + i} cx={cx} cy={96} r={16} fill='#3D7BD9' /&gt;&#10;        ))}&#10;        {[30, 86, 142, 198, 254, 310, 366, 422, 478, 534, 590, 646, 702, 758, 814, 870, 926, 982, 1038, 1094, 1150, 1206, 1262].map((cx, i) =&gt; (&#10;            &lt;circle key={'c' + i} cx={cx} cy={152} r={10} fill='#8B97A8' /&gt;&#10;        ))}&#10;        {[58, 114, 170, 226, 282, 338, 394, 450, 506, 562, 618, 674, 730, 786, 842, 898, 954, 1010, 1066, 1122, 1178, 1234].map((cx, i) =&gt; (&#10;            &lt;circle key={'tv' + i} cx={cx} cy={208} r={16} fill={i % 4 === 1 ? '#FFC107' : '#3D7BD9'} /&gt;&#10;        ))}&#10;        {[30, 86, 142, 198, 254, 310, 366, 422, 478, 534, 590, 646, 702, 758, 814, 870, 926, 982, 1038, 1094, 1150, 1206, 1262].map((cx, i) =&gt; (&#10;            &lt;circle key={'o2' + i} cx={cx} cy={264} r={9} fill='#E8EFF8' /&gt;&#10;        ))}&#10;    &lt;/svg&gt;&#10;&#10;    &lt;Box style={{ position: 'relative', zIndex: 1, height: 720, padding: '0 100px', flexDirection: 'column', alignItems: 'center', justifyContent: 'center', gap: 26 }}&gt;&#10;        &lt;Box style={{ width: 64, height: 64, background: '#FFC107', borderRadius: 14, justifyContent: 'center', alignItems: 'center' }}&gt;&#10;            &lt;FAIcon name='atom' style={{ fill: '#0E3F8C', width: 38, height: 38 }} /&gt;&#10;        &lt;/Box&gt;&#10;        &lt;Text style={{ fontSize: 52, fontWeight: 'bold', color: '#FFFFFF', textAlign: 'center' }}&gt;敬请批评指正&lt;/Text&gt;&#10;        &lt;Text style={{ fontSize: 19, color: '#A9C4EC', letterSpacing: 2, textAlign: 'center' }}&gt;Thanks for your attention&lt;/Text&gt;&#10;        &lt;Box style={{ width: 96, height: 5, background: '#FFC107', marginTop: 6 }} /&gt;&#10;        &lt;Text style={{ fontSize: 16, color: '#CFE0F5', marginTop: 12 }}&gt;Ti₃₋ᵧVᵧC₂ MXene 合金化体系 DFT 计算 · 2026 年 9 月 15 日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235" name=""/>
          <p:cNvPicPr>
            <a:picLocks noChangeAspect="1"/>
          </p:cNvPicPr>
          <p:nvPr/>
        </p:nvPicPr>
        <p:blipFill>
          <a:blip>
            <a:alphaModFix amt="22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4000500"/>
            <a:ext cx="12192000" cy="2857500"/>
          </a:xfrm>
          <a:prstGeom prst="rect">
            <a:avLst/>
          </a:prstGeom>
          <a:ln/>
        </p:spPr>
      </p:pic>
      <p:sp>
        <p:nvSpPr>
          <p:cNvPr id="236" name=""/>
          <p:cNvSpPr/>
          <p:nvPr/>
        </p:nvSpPr>
        <p:spPr>
          <a:xfrm rot="0" flipH="0" flipV="0">
            <a:off x="5791200" y="201930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FFC107"/>
          </a:solidFill>
          <a:ln/>
        </p:spPr>
        <p:txBody>
          <a:bodyPr/>
          <a:p/>
        </p:txBody>
      </p:sp>
      <p:pic>
        <p:nvPicPr>
          <p:cNvPr id="2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15025" y="2143125"/>
            <a:ext cx="361950" cy="361950"/>
          </a:xfrm>
          <a:prstGeom prst="rect">
            <a:avLst/>
          </a:prstGeom>
          <a:ln/>
        </p:spPr>
      </p:pic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610100" y="2876550"/>
            <a:ext cx="2971800" cy="600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3900" b="1">
                <a:solidFill>
                  <a:srgbClr val="FFFFFF"/>
                </a:solidFill>
                <a:latin typeface="Microsoft YaHei"/>
                <a:ea typeface="Microsoft YaHei"/>
              </a:rPr>
              <a:t>敬请批评指正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4762500" y="3724275"/>
            <a:ext cx="2676525" cy="219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425" spc="150">
                <a:solidFill>
                  <a:srgbClr val="A9C4EC"/>
                </a:solidFill>
                <a:latin typeface="Microsoft YaHei"/>
                <a:ea typeface="Microsoft YaHei"/>
              </a:rPr>
              <a:t>Thanks for your attention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5638800" y="4248150"/>
            <a:ext cx="9144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4057650" y="4657725"/>
            <a:ext cx="407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CFE0F5"/>
                </a:solidFill>
                <a:latin typeface="Microsoft YaHei"/>
                <a:ea typeface="Microsoft YaHei"/>
              </a:rPr>
              <a:t>Ti₃₋ᵧVᵧC₂ MXene </a:t>
            </a:r>
            <a:r>
              <a:rPr lang="zh-CN" sz="1200">
                <a:solidFill>
                  <a:srgbClr val="CFE0F5"/>
                </a:solidFill>
                <a:latin typeface="Microsoft YaHei"/>
                <a:ea typeface="Microsoft YaHei"/>
              </a:rPr>
              <a:t>合金化体系</a:t>
            </a:r>
            <a:r>
              <a:rPr lang="en-US" sz="1200">
                <a:solidFill>
                  <a:srgbClr val="CFE0F5"/>
                </a:solidFill>
                <a:latin typeface="Microsoft YaHei"/>
                <a:ea typeface="Microsoft YaHei"/>
              </a:rPr>
              <a:t> DFT </a:t>
            </a:r>
            <a:r>
              <a:rPr lang="zh-CN" sz="1200">
                <a:solidFill>
                  <a:srgbClr val="CFE0F5"/>
                </a:solidFill>
                <a:latin typeface="Microsoft YaHei"/>
                <a:ea typeface="Microsoft YaHei"/>
              </a:rPr>
              <a:t>计算</a:t>
            </a:r>
            <a:r>
              <a:rPr lang="en-US" sz="1200">
                <a:solidFill>
                  <a:srgbClr val="CFE0F5"/>
                </a:solidFill>
                <a:latin typeface="Microsoft YaHei"/>
                <a:ea typeface="Microsoft YaHei"/>
              </a:rPr>
              <a:t> · 2026 </a:t>
            </a:r>
            <a:r>
              <a:rPr lang="zh-CN" sz="1200">
                <a:solidFill>
                  <a:srgbClr val="CFE0F5"/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CFE0F5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CFE0F5"/>
                </a:solidFill>
                <a:latin typeface="Microsoft YaHei"/>
                <a:ea typeface="Microsoft YaHei"/>
              </a:rPr>
              <a:t>月</a:t>
            </a:r>
            <a:r>
              <a:rPr lang="en-US" sz="1200">
                <a:solidFill>
                  <a:srgbClr val="CFE0F5"/>
                </a:solidFill>
                <a:latin typeface="Microsoft YaHei"/>
                <a:ea typeface="Microsoft YaHei"/>
              </a:rPr>
              <a:t> 15 </a:t>
            </a:r>
            <a:r>
              <a:rPr lang="zh-CN" sz="1200">
                <a:solidFill>
                  <a:srgbClr val="CFE0F5"/>
                </a:solidFill>
                <a:latin typeface="Microsoft YaHei"/>
                <a:ea typeface="Microsoft YaHei"/>
              </a:rPr>
              <a:t>日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2026-09-17T17:18:26Z</dcterms:created>
  <dcterms:modified xsi:type="dcterms:W3CDTF">2026-09-17T17:18:26Z</dcterms:modified>
</cp:coreProperties>
</file>